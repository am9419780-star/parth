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431789"/>
            <a:ext cx="3716709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STATUS • NEUROLOGY • REHABILITATION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609585"/>
            <a:ext cx="4373070" cy="507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71486" y="1093165"/>
            <a:ext cx="3369650" cy="507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Orientation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71486" y="1640243"/>
            <a:ext cx="6806161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awareness of self and surroundings to body awareness and movement control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06430" y="2381190"/>
            <a:ext cx="1753304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06430" y="2590735"/>
            <a:ext cx="5715766" cy="234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processes used for</a:t>
            </a:r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thinking, understanding, learning,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6430" y="2847904"/>
            <a:ext cx="4964752" cy="234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remembering, attending,</a:t>
            </a:r>
            <a:pPr algn="l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interpreting information.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85823" y="3238419"/>
            <a:ext cx="599282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2059730" y="3238419"/>
            <a:ext cx="528503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966864" y="3238419"/>
            <a:ext cx="69908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87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034927" y="3238419"/>
            <a:ext cx="64208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049215" y="3238419"/>
            <a:ext cx="69183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085823" y="3543211"/>
            <a:ext cx="1246283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87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functions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670108" y="3543211"/>
            <a:ext cx="720227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523962" y="4457589"/>
            <a:ext cx="1544123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8F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QUESTION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523962" y="4648084"/>
            <a:ext cx="5244503" cy="253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person know who they are, where they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23962" y="4912198"/>
            <a:ext cx="4035267" cy="253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are, when it is, and what is happening?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939786" y="5702157"/>
            <a:ext cx="367663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is a cognitive / mental-status function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0038702" y="476238"/>
            <a:ext cx="985148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10038702" y="584185"/>
            <a:ext cx="1532764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Choudhary Divya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0038702" y="781328"/>
            <a:ext cx="74178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4009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172527" y="2203395"/>
            <a:ext cx="767868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Person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694722" y="3632109"/>
            <a:ext cx="644505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Place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254872" y="5092573"/>
            <a:ext cx="603279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A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Time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645068" y="3632109"/>
            <a:ext cx="901959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Situation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745853" y="5575161"/>
            <a:ext cx="1621317" cy="234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671341" y="5791055"/>
            <a:ext cx="377024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Mental-state awareness of person, place, time and situation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71486" y="6248244"/>
            <a:ext cx="5988154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APA, DSM-5-TR (2022; APA updates 2025); Campbell &amp; Barohn, DeJong’s The Neurologic Examination, 8e (2020).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355591"/>
            <a:ext cx="11083184" cy="39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Person Know Where They Are and What Is Happening?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788869"/>
            <a:ext cx="6713296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emerges from integrated information processing — not a single brain function.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714755" y="1511262"/>
            <a:ext cx="367594" cy="336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92133" y="1962101"/>
            <a:ext cx="118486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INPUT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92133" y="2160137"/>
            <a:ext cx="108022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• ears • body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92133" y="2316898"/>
            <a:ext cx="585610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sensation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607007" y="1511262"/>
            <a:ext cx="367594" cy="336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584385" y="1962101"/>
            <a:ext cx="95706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584385" y="2160137"/>
            <a:ext cx="128214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input means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99260" y="1511262"/>
            <a:ext cx="367594" cy="336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476638" y="1962101"/>
            <a:ext cx="836439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476638" y="2160137"/>
            <a:ext cx="143127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what matters now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391513" y="1511262"/>
            <a:ext cx="367594" cy="336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368891" y="1962101"/>
            <a:ext cx="669009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368891" y="2160137"/>
            <a:ext cx="1324740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stored information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283766" y="1511262"/>
            <a:ext cx="367594" cy="336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261143" y="1962101"/>
            <a:ext cx="72127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61143" y="2160137"/>
            <a:ext cx="1051194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+ reason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1169668" y="1517612"/>
            <a:ext cx="367594" cy="336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10159746" y="1968451"/>
            <a:ext cx="1019959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/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159746" y="2128387"/>
            <a:ext cx="99082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0159746" y="2326423"/>
            <a:ext cx="1339253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 appropriate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159746" y="2483185"/>
            <a:ext cx="56426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174721" y="3073323"/>
            <a:ext cx="380094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EXAMPLE — NEW PATIENT ON THE WARD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81030" y="3359066"/>
            <a:ext cx="329944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57129" y="3676558"/>
            <a:ext cx="22666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225519" y="3654334"/>
            <a:ext cx="1239658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you?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5375637" y="3682908"/>
            <a:ext cx="471712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57129" y="4152796"/>
            <a:ext cx="22666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225519" y="4130572"/>
            <a:ext cx="1401513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you?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5469396" y="4159146"/>
            <a:ext cx="372327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857129" y="4629034"/>
            <a:ext cx="22666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225519" y="4606810"/>
            <a:ext cx="1320533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day is it?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5505213" y="4635384"/>
            <a:ext cx="33436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857129" y="5105272"/>
            <a:ext cx="22666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225519" y="5083048"/>
            <a:ext cx="1664121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you here?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5268582" y="5111622"/>
            <a:ext cx="58518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6527637" y="3035224"/>
            <a:ext cx="208237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8F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PSYCHIATRY + NEUROLOGY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7048324" y="3301917"/>
            <a:ext cx="889339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Psychiatry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7048324" y="3530512"/>
            <a:ext cx="461843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F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Disorientation can occur in delirium and some severe cognitive disorders.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7048324" y="3717138"/>
            <a:ext cx="298431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F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feature of every psychiatric condition.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7048324" y="4037110"/>
            <a:ext cx="870198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Neurology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7048324" y="4265704"/>
            <a:ext cx="422814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F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Disorders affecting attention, memory, sensory processing or body-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7048324" y="4452330"/>
            <a:ext cx="350300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F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pathways can alter awareness or performance.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2476934" y="5692633"/>
            <a:ext cx="8087017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is the brain’s integrated awareness of self + surroundings — not simply “knowing facts”.</a:t>
            </a:r>
            <a:endParaRPr lang="en-US" sz="1250" dirty="0"/>
          </a:p>
        </p:txBody>
      </p:sp>
      <p:sp>
        <p:nvSpPr>
          <p:cNvPr id="48" name="Text 45"/>
          <p:cNvSpPr txBox="1"/>
          <p:nvPr/>
        </p:nvSpPr>
        <p:spPr>
          <a:xfrm>
            <a:off x="571486" y="6248244"/>
            <a:ext cx="381525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APA, DSM-5-TR (2022; 2025 update); Campbell &amp; Barohn, 8e (2020).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355591"/>
            <a:ext cx="5347148" cy="39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Assess Orientation?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788869"/>
            <a:ext cx="6529355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Bedside mental-status assessment uses conversation, observation and clinical context.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441414" y="1762081"/>
            <a:ext cx="19984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441414" y="1895428"/>
            <a:ext cx="1101886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6925" y="2628834"/>
            <a:ext cx="558897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96925" y="2941167"/>
            <a:ext cx="1043833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you?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96925" y="3253500"/>
            <a:ext cx="1995930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people around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96925" y="3451536"/>
            <a:ext cx="388418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48044" y="1762081"/>
            <a:ext cx="19984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248044" y="1895428"/>
            <a:ext cx="893020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803555" y="2628834"/>
            <a:ext cx="1187494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you?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03555" y="2941167"/>
            <a:ext cx="1672114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hospital / clinic /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803555" y="3139203"/>
            <a:ext cx="532079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home?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803555" y="3426136"/>
            <a:ext cx="863993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city?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054674" y="1762081"/>
            <a:ext cx="19984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054674" y="1895428"/>
            <a:ext cx="643874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610185" y="2628834"/>
            <a:ext cx="1457148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Day? Month? Year?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610185" y="2941167"/>
            <a:ext cx="1477656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or part of day?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861303" y="1762081"/>
            <a:ext cx="19984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861303" y="1895428"/>
            <a:ext cx="1386474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416815" y="2628834"/>
            <a:ext cx="1402986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you here?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416815" y="2941167"/>
            <a:ext cx="1735320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happening right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416815" y="3139203"/>
            <a:ext cx="424281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now?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68331" y="4419490"/>
            <a:ext cx="950922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responses in context: consider age, education, language, culture, sensory limitations and the current clinical condition.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066773" y="4736982"/>
            <a:ext cx="27977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77360" y="4736982"/>
            <a:ext cx="656284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843141" y="4736982"/>
            <a:ext cx="64208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3895528" y="4736982"/>
            <a:ext cx="48569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4800381" y="4736982"/>
            <a:ext cx="121788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limitations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395977" y="4736982"/>
            <a:ext cx="1579985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clinical condition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2229489" y="5692633"/>
            <a:ext cx="8611706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questions are part of the mental status examination; they should not be interpreted in isolation.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571486" y="6248244"/>
            <a:ext cx="381525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APA, DSM-5-TR (2022; 2025 update); Campbell &amp; Barohn, 8e (2020).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355591"/>
            <a:ext cx="6607075" cy="39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Orientation Become Impaired?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788869"/>
            <a:ext cx="6763041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acute, chronic, neurologic, psychiatric and medication-related factors can contribute.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5622996" y="3514042"/>
            <a:ext cx="945604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41579" y="3727357"/>
            <a:ext cx="1308438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9018" y="1752556"/>
            <a:ext cx="1219781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/ RAPID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289018" y="1962101"/>
            <a:ext cx="1462301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Delirium • acute illness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89018" y="2148727"/>
            <a:ext cx="271697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/ toxin effects • metabolic disturbance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289018" y="3371766"/>
            <a:ext cx="2071862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6E5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/ PROGRESSIVE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289018" y="3581310"/>
            <a:ext cx="197079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neurocognitive disorders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289018" y="3767936"/>
            <a:ext cx="260181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 neurologic diseases • brain injury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781830" y="1752556"/>
            <a:ext cx="1800420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PSYCHIATRIC / OTHER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781830" y="1962101"/>
            <a:ext cx="280384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states may disrupt attention, thought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781830" y="2148727"/>
            <a:ext cx="183754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or interpretation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781830" y="3371766"/>
            <a:ext cx="2146848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A87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/ SUBSTANCE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781830" y="3581310"/>
            <a:ext cx="275693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Sedatives, anticholinergic burden and other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781830" y="3767936"/>
            <a:ext cx="2023379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or substance effects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035424" y="4736982"/>
            <a:ext cx="2370648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PHYSIOLOGICAL STRESSORS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035424" y="4946526"/>
            <a:ext cx="2497482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sleep loss, dehydration or other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035424" y="5133152"/>
            <a:ext cx="120043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stressors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130272" y="5825979"/>
            <a:ext cx="902712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CLINICAL POINT •</a:t>
            </a:r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Sudden new confusion or disorientation needs assessment for an underlying medical or neurologic cause.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71486" y="6248244"/>
            <a:ext cx="381525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APA, DSM-5-TR (2022; 2025 update); Campbell &amp; Barohn, 8e (2020).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355591"/>
            <a:ext cx="9424980" cy="39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Brain Builds Awareness of Self and Environment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788869"/>
            <a:ext cx="7614281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model: environmental information and body information are combined by the nervous system.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800080" y="1555711"/>
            <a:ext cx="111639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1200120" y="2101797"/>
            <a:ext cx="55763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200120" y="2990775"/>
            <a:ext cx="73705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HEARING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200120" y="3879753"/>
            <a:ext cx="57172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419889" y="1555711"/>
            <a:ext cx="152740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INFORMATION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819929" y="1987500"/>
            <a:ext cx="77638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19929" y="2597085"/>
            <a:ext cx="1465246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JOINTS / TENDONS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819929" y="3206670"/>
            <a:ext cx="402826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819929" y="3740056"/>
            <a:ext cx="1008601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VESTIBULAR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19929" y="3892453"/>
            <a:ext cx="65975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819929" y="4425839"/>
            <a:ext cx="55763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926565" y="3352716"/>
            <a:ext cx="2338466" cy="234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INTEGRATION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360357" y="4311542"/>
            <a:ext cx="3999930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+ MEMORY + PERCEPTION + THINKING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288126" y="5248144"/>
            <a:ext cx="219417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/ AWARENESS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757025" y="5248144"/>
            <a:ext cx="338837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AWARENESS + MOVEMENT CONTROL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2792366" y="5752956"/>
            <a:ext cx="6606865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continuously combines information from the environment and the body to guide behaviour.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71486" y="6248244"/>
            <a:ext cx="5551071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Campbell &amp; Barohn, 8e (2020); Gilman, J Neurol Neurosurg Psychiatry (2002), joint position sense review.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355591"/>
            <a:ext cx="5698098" cy="39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Role of Motor Control?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788869"/>
            <a:ext cx="6697731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control plans, initiates, coordinates and adjusts movement using sensory feedback.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2774693" y="1460463"/>
            <a:ext cx="105434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BRAIN PLANS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2913408" y="1605220"/>
            <a:ext cx="77701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852469" y="2562161"/>
            <a:ext cx="1371540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5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MOTOR COMMAND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852469" y="3927377"/>
            <a:ext cx="137416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MUSCLES / JOINTS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852469" y="4072133"/>
            <a:ext cx="414710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901317" y="5194170"/>
            <a:ext cx="801102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SENSORY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2927606" y="5338927"/>
            <a:ext cx="748622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1179" y="3927377"/>
            <a:ext cx="116088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FA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BRAIN CHECKS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70569" y="4072133"/>
            <a:ext cx="83149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40159" y="2562161"/>
            <a:ext cx="96190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CORRECT IF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972778" y="2706917"/>
            <a:ext cx="829287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727367" y="3447964"/>
            <a:ext cx="1149002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a cup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753344" y="3651159"/>
            <a:ext cx="109704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→ move →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2842104" y="3813973"/>
            <a:ext cx="91962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→ adjust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584785" y="2301817"/>
            <a:ext cx="1781384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CONTRIBUTORS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264418" y="2568511"/>
            <a:ext cx="934982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cortex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264418" y="2733607"/>
            <a:ext cx="1833233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movement planning +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9264418" y="2873303"/>
            <a:ext cx="585610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264418" y="3146346"/>
            <a:ext cx="844642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Cerebellum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264418" y="3311442"/>
            <a:ext cx="2283462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• timing • error correction •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9264418" y="3451139"/>
            <a:ext cx="486120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9264418" y="3724182"/>
            <a:ext cx="992825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Basal ganglia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264418" y="3889278"/>
            <a:ext cx="184732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initiation + regulation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264418" y="4162321"/>
            <a:ext cx="2247810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cord + peripheral nerves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264418" y="4327417"/>
            <a:ext cx="1878982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motor and sensory signals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2595696" y="5692633"/>
            <a:ext cx="7835347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control is more than muscle strength; it depends on sensory information and coordination.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71486" y="6248244"/>
            <a:ext cx="3867311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Campbell &amp; Barohn, DeJong’s The Neurologic Examination, 8e (2020).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355591"/>
            <a:ext cx="6034008" cy="39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Awareness and Proprioception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788869"/>
            <a:ext cx="5724705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</a:t>
            </a:r>
            <a:pPr algn="l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can you know where a limb is even when you cannot see it?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768331" y="1650959"/>
            <a:ext cx="2303760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A87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DEMONSTRATION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63479" y="3616235"/>
            <a:ext cx="1055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1222" y="3605916"/>
            <a:ext cx="85526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closed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63479" y="3933727"/>
            <a:ext cx="1055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1222" y="3923408"/>
            <a:ext cx="91815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an arm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63479" y="4251219"/>
            <a:ext cx="1055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11222" y="4240900"/>
            <a:ext cx="116635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your nose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63479" y="4568711"/>
            <a:ext cx="1055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1222" y="4558392"/>
            <a:ext cx="254281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limb position without looking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173731" y="3372460"/>
            <a:ext cx="1717336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PROPRIOCEPTION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282376" y="3601055"/>
            <a:ext cx="149984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of body position and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3570" y="3749581"/>
            <a:ext cx="63745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766467" y="2235144"/>
            <a:ext cx="53176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MUSCLES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6948729" y="2917752"/>
            <a:ext cx="53176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TENDONS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7013197" y="4282968"/>
            <a:ext cx="40282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JOINTS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5892671" y="4965576"/>
            <a:ext cx="27935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4508385" y="4282968"/>
            <a:ext cx="68320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VESTIBULAR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4659727" y="2917752"/>
            <a:ext cx="380425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8515137" y="1650959"/>
            <a:ext cx="2062397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TERMS DISTINCT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692933" y="2057349"/>
            <a:ext cx="1234820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Proprioception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692933" y="2285943"/>
            <a:ext cx="2541863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of body position / movement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692933" y="2859909"/>
            <a:ext cx="982729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Kinesthesia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692933" y="3088503"/>
            <a:ext cx="2313751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specifically of movement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692933" y="3662469"/>
            <a:ext cx="2133281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schema / awareness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692933" y="3891064"/>
            <a:ext cx="260759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representation and awareness of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692933" y="4077689"/>
            <a:ext cx="58045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04832" y="5687473"/>
            <a:ext cx="104330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Proprioception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996033" y="5691641"/>
            <a:ext cx="197174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 body-position information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4421573" y="5687473"/>
            <a:ext cx="94886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control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613756" y="5613260"/>
            <a:ext cx="183680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sensory feedback to guide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613756" y="5770021"/>
            <a:ext cx="635145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138314" y="5687473"/>
            <a:ext cx="79205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7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9192487" y="5691641"/>
            <a:ext cx="2433854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 person, place, time and situation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71486" y="6248244"/>
            <a:ext cx="3695675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Gilman, 2002 (joint position sense); Campbell &amp; Barohn, 8e (2020).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355591"/>
            <a:ext cx="6546077" cy="39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Tests and Assessment Methods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788869"/>
            <a:ext cx="6295669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cognitive/mental-status questions from sensory and coordination tests.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878362" y="1650959"/>
            <a:ext cx="154837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74721" y="1670008"/>
            <a:ext cx="2078593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ASSESSMENT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81030" y="1981150"/>
            <a:ext cx="309751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1222" y="2273243"/>
            <a:ext cx="415236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22" y="2603435"/>
            <a:ext cx="572569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111222" y="2933627"/>
            <a:ext cx="158587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/ day / month / year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111222" y="3213020"/>
            <a:ext cx="162520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situation / reason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111222" y="3365416"/>
            <a:ext cx="949706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being there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876478" y="1981150"/>
            <a:ext cx="630833" cy="18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206670" y="2273243"/>
            <a:ext cx="59612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206670" y="2552636"/>
            <a:ext cx="111471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of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206670" y="2705032"/>
            <a:ext cx="643243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206670" y="2984425"/>
            <a:ext cx="133452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answers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206670" y="3314617"/>
            <a:ext cx="165665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of responses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47360" y="4756031"/>
            <a:ext cx="426068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2114168" y="4756031"/>
            <a:ext cx="33720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3153530" y="4756031"/>
            <a:ext cx="30312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063638" y="4756031"/>
            <a:ext cx="527557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501046" y="1638259"/>
            <a:ext cx="154837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797405" y="1657309"/>
            <a:ext cx="3960807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POSITION / PROPRIOCEPTION / COORDINATION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495888" y="2255285"/>
            <a:ext cx="1687573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POSITION SENSE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495888" y="2445780"/>
            <a:ext cx="3485547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closed → move finger/toe up or down → “Up or down?”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495888" y="3271260"/>
            <a:ext cx="776282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ROMBERG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495888" y="3461755"/>
            <a:ext cx="488608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together, eyes open → close eyes → watch for increased sway / loss of balance.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495888" y="4287234"/>
            <a:ext cx="1051300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FINGER–NOSE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495888" y="4477729"/>
            <a:ext cx="449759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 to own nose → examiner’s finger → back again. Assesses coordination.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2838974" y="5295768"/>
            <a:ext cx="2358343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= cognitive / mental status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319976" y="5295768"/>
            <a:ext cx="2322585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position sense = proprioception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7767245" y="5295768"/>
            <a:ext cx="171859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Finger–nose = coordination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1054074" y="5721207"/>
            <a:ext cx="5443378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</a:t>
            </a:r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 balance tests with appropriate support / supervision to reduce fall risk.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71486" y="6248244"/>
            <a:ext cx="5511422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Campbell &amp; Barohn, 8e (2020); NCBI Bookshelf, Romberg Test (updated 2026); Neurologic Exam (2026).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486" y="349241"/>
            <a:ext cx="10570378" cy="349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5" kern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to Support Orientation, Body Awareness and Cognitive Function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571486" y="739062"/>
            <a:ext cx="7059724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rehabilitation / stimulation activities that fit the patient’s diagnosis, goals and safety needs.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2345671" y="1835104"/>
            <a:ext cx="210366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C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730232" y="2311342"/>
            <a:ext cx="108158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30232" y="2546286"/>
            <a:ext cx="1579985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Daily: name • place • date •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30232" y="2715152"/>
            <a:ext cx="51451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30232" y="2884019"/>
            <a:ext cx="155222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clock, calendar, signs,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30232" y="3052885"/>
            <a:ext cx="550063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80815" y="1835104"/>
            <a:ext cx="210366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C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2965376" y="2311342"/>
            <a:ext cx="72906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965376" y="2546286"/>
            <a:ext cx="1658757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3–5 familiar objects →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965376" y="2715152"/>
            <a:ext cx="784485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→ recall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815959" y="1835104"/>
            <a:ext cx="210366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C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5200520" y="2311342"/>
            <a:ext cx="91247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200520" y="2546286"/>
            <a:ext cx="183375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backward • find a target •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200520" y="2715152"/>
            <a:ext cx="1061922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 sequence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9051103" y="1835104"/>
            <a:ext cx="210366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C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7435664" y="2311342"/>
            <a:ext cx="150910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AWARENESS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435664" y="2546286"/>
            <a:ext cx="181745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closed: touch nose • raise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435664" y="2715152"/>
            <a:ext cx="1874354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hand • identify limb position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1286248" y="1835104"/>
            <a:ext cx="210366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C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300" dirty="0"/>
          </a:p>
        </p:txBody>
      </p:sp>
      <p:sp>
        <p:nvSpPr>
          <p:cNvPr id="24" name="Text 21"/>
          <p:cNvSpPr txBox="1"/>
          <p:nvPr/>
        </p:nvSpPr>
        <p:spPr>
          <a:xfrm>
            <a:off x="9670808" y="2311342"/>
            <a:ext cx="154769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+ COGNITION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9670808" y="2546286"/>
            <a:ext cx="1665909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“Stand → turn right → take 3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9670808" y="2715152"/>
            <a:ext cx="748728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→ sit.”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71486" y="3701957"/>
            <a:ext cx="138458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FLOW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5024" y="4083246"/>
            <a:ext cx="90017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35024" y="4229292"/>
            <a:ext cx="17077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+ place + time + situation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876578" y="4083246"/>
            <a:ext cx="1253330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87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AWARENESS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3876578" y="4229292"/>
            <a:ext cx="1904853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Proprioception + sensory information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718132" y="4083246"/>
            <a:ext cx="1179606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CONTROL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718132" y="4229292"/>
            <a:ext cx="1752253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+ move + feedback + correct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9508986" y="4013100"/>
            <a:ext cx="1509101" cy="158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5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EXERCISES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9508986" y="4159146"/>
            <a:ext cx="2089425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+ attention + memory + body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9508986" y="4299438"/>
            <a:ext cx="59150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1396965" y="5187820"/>
            <a:ext cx="10248350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F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message: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brain integrates mind, body and environment to maintain awareness and guide appropriate behaviour and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1396965" y="5419193"/>
            <a:ext cx="937086" cy="215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movement.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571486" y="6248244"/>
            <a:ext cx="679806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ASHA Clinical Practice Guideline, AJSLP (2022); INCOG 2.0 cognitive rehabilitation guidance (2023); Jak, Neurologic Clinics (2024).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71486" y="6587960"/>
            <a:ext cx="335124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functions • orientation • body awareness • motor control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4832527" y="6587960"/>
            <a:ext cx="2524510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pPr algn="l" indent="0" marL="0">
              <a:buNone/>
            </a:pPr>
            <a:r>
              <a:rPr lang="en-US" sz="850" b="1" dirty="0">
                <a:solidFill>
                  <a:srgbClr val="148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Choudhary Divya</a:t>
            </a:r>
            <a:pPr algn="l" indent="0" marL="0">
              <a:buNone/>
            </a:pPr>
            <a:r>
              <a:rPr lang="en-US" sz="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 4009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8313629" y="6581610"/>
            <a:ext cx="3192966" cy="146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psychiatry / psychology / nursing / allied health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11477536" y="6594310"/>
            <a:ext cx="9804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18671" y="2279593"/>
            <a:ext cx="3754254" cy="806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500" dirty="0"/>
          </a:p>
        </p:txBody>
      </p:sp>
      <p:sp>
        <p:nvSpPr>
          <p:cNvPr id="4" name="Text 1"/>
          <p:cNvSpPr txBox="1"/>
          <p:nvPr/>
        </p:nvSpPr>
        <p:spPr>
          <a:xfrm>
            <a:off x="5027317" y="3136822"/>
            <a:ext cx="2136962" cy="234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4380" y="3879753"/>
            <a:ext cx="12229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F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969681" y="4038499"/>
            <a:ext cx="225233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Choudhary Divya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32356" y="4324242"/>
            <a:ext cx="926884" cy="19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4009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Functions and Orientation</dc:title>
  <dc:subject>PptxGenJS Presentation</dc:subject>
  <dc:creator>Choudhary Divya (Group 4009)</dc:creator>
  <cp:lastModifiedBy>Choudhary Divya (Group 4009)</cp:lastModifiedBy>
  <cp:revision>1</cp:revision>
  <dcterms:created xsi:type="dcterms:W3CDTF">2026-09-24T16:25:49Z</dcterms:created>
  <dcterms:modified xsi:type="dcterms:W3CDTF">2026-09-24T16:25:49Z</dcterms:modified>
</cp:coreProperties>
</file>
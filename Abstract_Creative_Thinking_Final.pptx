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Today: two ways our brain thinks, easy exercises for each, and how a doctor can check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 thinking looks past the words to the meaning. Creative thinking finds many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one of these games and do it with the class. Answers are shown under each game.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five steps using 'feeling sad' as the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 the paper-clip game with the class: 60 seconds, count the ideas.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 test: proverb and similarity. Creative test: paper-clip uses. Always think about background before judging.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answers go beyond the literal words: proverb meaning and a group-level similarity.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 for the number of ideas and flexibility, not cleverness.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rain example: see, meaning, more ideas, use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822960"/>
            <a:ext cx="4754880" cy="4754880"/>
          </a:xfrm>
          <a:prstGeom prst="ellipse">
            <a:avLst/>
          </a:prstGeom>
          <a:solidFill>
            <a:srgbClr val="4E2C78"/>
          </a:solidFill>
          <a:ln w="12700">
            <a:solidFill>
              <a:srgbClr val="4E2C7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38560" y="5394960"/>
            <a:ext cx="1463040" cy="1463040"/>
          </a:xfrm>
          <a:prstGeom prst="ellipse">
            <a:avLst/>
          </a:prstGeom>
          <a:solidFill>
            <a:srgbClr val="5B3A8A"/>
          </a:solidFill>
          <a:ln w="12700">
            <a:solidFill>
              <a:srgbClr val="5B3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5760720"/>
            <a:ext cx="320040" cy="320040"/>
          </a:xfrm>
          <a:prstGeom prst="ellipse">
            <a:avLst/>
          </a:prstGeom>
          <a:solidFill>
            <a:srgbClr val="FF6F61"/>
          </a:solidFill>
          <a:ln w="12700">
            <a:solidFill>
              <a:srgbClr val="FF6F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0" y="457200"/>
            <a:ext cx="228600" cy="22860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0" y="640080"/>
            <a:ext cx="182880" cy="18288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0" y="1828800"/>
            <a:ext cx="2743200" cy="2743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6568" y="2350008"/>
            <a:ext cx="1700784" cy="170078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972800" y="1097280"/>
            <a:ext cx="1051560" cy="105156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2596" y="1297076"/>
            <a:ext cx="651967" cy="651967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635240" y="1143000"/>
            <a:ext cx="960120" cy="96012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7663" y="1325423"/>
            <a:ext cx="595274" cy="59527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818120" y="4526280"/>
            <a:ext cx="960120" cy="960120"/>
          </a:xfrm>
          <a:prstGeom prst="ellipse">
            <a:avLst/>
          </a:prstGeom>
          <a:solidFill>
            <a:srgbClr val="FF6F61"/>
          </a:solidFill>
          <a:ln w="12700">
            <a:solidFill>
              <a:srgbClr val="FF6F61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0543" y="4708703"/>
            <a:ext cx="595274" cy="595274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10835640" y="4251960"/>
            <a:ext cx="914400" cy="914400"/>
          </a:xfrm>
          <a:prstGeom prst="ellipse">
            <a:avLst/>
          </a:prstGeom>
          <a:solidFill>
            <a:srgbClr val="4D9DE0"/>
          </a:solidFill>
          <a:ln w="12700">
            <a:solidFill>
              <a:srgbClr val="4D9DE0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9376" y="4425696"/>
            <a:ext cx="566928" cy="566928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731520" y="914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PSYCHIATRY</a:t>
            </a:r>
            <a:endParaRPr lang="en-US" sz="1400" dirty="0"/>
          </a:p>
        </p:txBody>
      </p:sp>
      <p:sp>
        <p:nvSpPr>
          <p:cNvPr id="18" name="Text 11"/>
          <p:cNvSpPr txBox="1"/>
          <p:nvPr/>
        </p:nvSpPr>
        <p:spPr>
          <a:xfrm>
            <a:off x="731520" y="1325880"/>
            <a:ext cx="6675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&amp;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Thinking</a:t>
            </a:r>
            <a:endParaRPr lang="en-US" sz="4800" dirty="0"/>
          </a:p>
        </p:txBody>
      </p:sp>
      <p:sp>
        <p:nvSpPr>
          <p:cNvPr id="19" name="Text 12"/>
          <p:cNvSpPr txBox="1"/>
          <p:nvPr/>
        </p:nvSpPr>
        <p:spPr>
          <a:xfrm>
            <a:off x="731520" y="3200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E4D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ways to find the meaning and find more ideas</a:t>
            </a:r>
            <a:endParaRPr lang="en-US" sz="1900" dirty="0"/>
          </a:p>
        </p:txBody>
      </p:sp>
      <p:sp>
        <p:nvSpPr>
          <p:cNvPr id="20" name="Shape 13"/>
          <p:cNvSpPr/>
          <p:nvPr/>
        </p:nvSpPr>
        <p:spPr>
          <a:xfrm>
            <a:off x="731520" y="3931920"/>
            <a:ext cx="1856232" cy="457200"/>
          </a:xfrm>
          <a:prstGeom prst="roundRect">
            <a:avLst>
              <a:gd name="adj" fmla="val 50000"/>
            </a:avLst>
          </a:prstGeom>
          <a:solidFill>
            <a:srgbClr val="FF6F61"/>
          </a:solidFill>
          <a:ln w="12700">
            <a:solidFill>
              <a:srgbClr val="FF6F61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731520" y="3931920"/>
            <a:ext cx="1856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IT?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2770632" y="3931920"/>
            <a:ext cx="1618488" cy="457200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2770632" y="3931920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3B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EXERCISES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4572000" y="3931920"/>
            <a:ext cx="1975104" cy="457200"/>
          </a:xfrm>
          <a:prstGeom prst="roundRect">
            <a:avLst>
              <a:gd name="adj" fmla="val 50000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4572000" y="393192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3B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CHECK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731520" y="4709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CDB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“What is it?” to “What does it mean?”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731520" y="6080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9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Educational presentation — not a diagnostic test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-1005840"/>
            <a:ext cx="2651760" cy="2651760"/>
          </a:xfrm>
          <a:prstGeom prst="ellipse">
            <a:avLst/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87000" y="868680"/>
            <a:ext cx="411480" cy="411480"/>
          </a:xfrm>
          <a:prstGeom prst="ellipse">
            <a:avLst/>
          </a:prstGeom>
          <a:solidFill>
            <a:srgbClr val="FF6F61"/>
          </a:solidFill>
          <a:ln w="12700">
            <a:solidFill>
              <a:srgbClr val="FF6F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114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411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6F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HERE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6868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ways of thinking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0876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finds the meaning. One finds more ideas.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&amp; Creative Thinking  ·  Psychiatry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18311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057400"/>
            <a:ext cx="5349240" cy="3520440"/>
          </a:xfrm>
          <a:prstGeom prst="roundRect">
            <a:avLst>
              <a:gd name="adj" fmla="val 4675"/>
            </a:avLst>
          </a:prstGeom>
          <a:solidFill>
            <a:srgbClr val="FFFFFF"/>
          </a:solidFill>
          <a:ln w="9525">
            <a:solidFill>
              <a:srgbClr val="E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2B214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057400"/>
            <a:ext cx="5349240" cy="1325880"/>
          </a:xfrm>
          <a:prstGeom prst="roundRect">
            <a:avLst>
              <a:gd name="adj" fmla="val 12414"/>
            </a:avLst>
          </a:prstGeom>
          <a:solidFill>
            <a:srgbClr val="E3EFFB"/>
          </a:solidFill>
          <a:ln w="12700">
            <a:solidFill>
              <a:srgbClr val="E3EFF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194560"/>
            <a:ext cx="1051560" cy="1051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476" y="2394356"/>
            <a:ext cx="651967" cy="651967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2148840" y="2331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D9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THINKING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2148840" y="263347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B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hidden meaning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868680" y="3566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6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“What does it really mean?”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868680" y="4114800"/>
            <a:ext cx="1005840" cy="1005840"/>
          </a:xfrm>
          <a:prstGeom prst="ellipse">
            <a:avLst/>
          </a:prstGeom>
          <a:solidFill>
            <a:srgbClr val="E3EFFB"/>
          </a:solidFill>
          <a:ln w="12700">
            <a:solidFill>
              <a:srgbClr val="E3EFFB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790" y="4305910"/>
            <a:ext cx="623621" cy="623621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2057400" y="41148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9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</a:t>
            </a:r>
            <a:pPr indent="0" marL="0">
              <a:buNone/>
            </a:pPr>
            <a:r>
              <a:rPr lang="en-US" sz="1500" b="1" dirty="0">
                <a:solidFill>
                  <a:srgbClr val="2B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“Don’t cry over spilled milk”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2057400" y="457200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Don’t stay sad about small things that already happened.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6291072" y="2057400"/>
            <a:ext cx="5349240" cy="3520440"/>
          </a:xfrm>
          <a:prstGeom prst="roundRect">
            <a:avLst>
              <a:gd name="adj" fmla="val 4675"/>
            </a:avLst>
          </a:prstGeom>
          <a:solidFill>
            <a:srgbClr val="FFFFFF"/>
          </a:solidFill>
          <a:ln w="9525">
            <a:solidFill>
              <a:srgbClr val="E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2B214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291072" y="2057400"/>
            <a:ext cx="5349240" cy="1325880"/>
          </a:xfrm>
          <a:prstGeom prst="roundRect">
            <a:avLst>
              <a:gd name="adj" fmla="val 12414"/>
            </a:avLst>
          </a:prstGeom>
          <a:solidFill>
            <a:srgbClr val="DDF6F3"/>
          </a:solidFill>
          <a:ln w="12700">
            <a:solidFill>
              <a:srgbClr val="DDF6F3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611112" y="2194560"/>
            <a:ext cx="1051560" cy="1051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0908" y="2394356"/>
            <a:ext cx="651967" cy="651967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7891272" y="2331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THINKING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7891272" y="263347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B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many different ideas</a:t>
            </a:r>
            <a:endParaRPr lang="en-US" sz="2200" dirty="0"/>
          </a:p>
        </p:txBody>
      </p:sp>
      <p:sp>
        <p:nvSpPr>
          <p:cNvPr id="27" name="Text 22"/>
          <p:cNvSpPr txBox="1"/>
          <p:nvPr/>
        </p:nvSpPr>
        <p:spPr>
          <a:xfrm>
            <a:off x="6611112" y="3566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6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“What else is possible?”</a:t>
            </a:r>
            <a:endParaRPr lang="en-US" sz="1700" dirty="0"/>
          </a:p>
        </p:txBody>
      </p:sp>
      <p:sp>
        <p:nvSpPr>
          <p:cNvPr id="28" name="Shape 23"/>
          <p:cNvSpPr/>
          <p:nvPr/>
        </p:nvSpPr>
        <p:spPr>
          <a:xfrm>
            <a:off x="6611112" y="4114800"/>
            <a:ext cx="1005840" cy="1005840"/>
          </a:xfrm>
          <a:prstGeom prst="ellipse">
            <a:avLst/>
          </a:prstGeom>
          <a:solidFill>
            <a:srgbClr val="DDF6F3"/>
          </a:solidFill>
          <a:ln w="12700">
            <a:solidFill>
              <a:srgbClr val="DDF6F3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2222" y="4305910"/>
            <a:ext cx="623621" cy="623621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7799832" y="41148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</a:t>
            </a:r>
            <a:pPr indent="0" marL="0">
              <a:buNone/>
            </a:pPr>
            <a:r>
              <a:rPr lang="en-US" sz="1500" b="1" dirty="0">
                <a:solidFill>
                  <a:srgbClr val="2B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can a spoon do?</a:t>
            </a:r>
            <a:endParaRPr lang="en-US" sz="1500" dirty="0"/>
          </a:p>
        </p:txBody>
      </p:sp>
      <p:sp>
        <p:nvSpPr>
          <p:cNvPr id="31" name="Text 25"/>
          <p:cNvSpPr txBox="1"/>
          <p:nvPr/>
        </p:nvSpPr>
        <p:spPr>
          <a:xfrm>
            <a:off x="7799832" y="457200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Eat soup, stir tea, dig soil, play a drum!</a:t>
            </a:r>
            <a:endParaRPr lang="en-US" sz="1500" dirty="0"/>
          </a:p>
        </p:txBody>
      </p:sp>
      <p:sp>
        <p:nvSpPr>
          <p:cNvPr id="32" name="Shape 26"/>
          <p:cNvSpPr/>
          <p:nvPr/>
        </p:nvSpPr>
        <p:spPr>
          <a:xfrm>
            <a:off x="548640" y="5760720"/>
            <a:ext cx="11091672" cy="548640"/>
          </a:xfrm>
          <a:prstGeom prst="roundRect">
            <a:avLst>
              <a:gd name="adj" fmla="val 50000"/>
            </a:avLst>
          </a:prstGeom>
          <a:solidFill>
            <a:srgbClr val="3B1F5C"/>
          </a:solidFill>
          <a:ln w="12700">
            <a:solidFill>
              <a:srgbClr val="3B1F5C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868680" y="5760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 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= find the meaning.   Creative = find more ideas.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-1005840"/>
            <a:ext cx="2651760" cy="2651760"/>
          </a:xfrm>
          <a:prstGeom prst="ellipse">
            <a:avLst/>
          </a:prstGeom>
          <a:solidFill>
            <a:srgbClr val="E3EFFB"/>
          </a:solidFill>
          <a:ln w="12700">
            <a:solidFill>
              <a:srgbClr val="E3EF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87000" y="868680"/>
            <a:ext cx="411480" cy="411480"/>
          </a:xfrm>
          <a:prstGeom prst="ellipse">
            <a:avLst/>
          </a:prstGeom>
          <a:solidFill>
            <a:srgbClr val="4D9DE0"/>
          </a:solidFill>
          <a:ln w="12700">
            <a:solidFill>
              <a:srgbClr val="4D9D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114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 w="12700">
            <a:solidFill>
              <a:srgbClr val="E3EF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411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4D9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6868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can I improve abstract thinking?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0876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at something simple. Then find the bigger idea behind it.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&amp; Creative Thinking  ·  Psychiatry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18311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011680"/>
            <a:ext cx="3566160" cy="1691640"/>
          </a:xfrm>
          <a:prstGeom prst="roundRect">
            <a:avLst>
              <a:gd name="adj" fmla="val 9730"/>
            </a:avLst>
          </a:prstGeom>
          <a:solidFill>
            <a:srgbClr val="FFFFFF"/>
          </a:solidFill>
          <a:ln w="9525">
            <a:solidFill>
              <a:srgbClr val="E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2B214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2194560"/>
            <a:ext cx="777240" cy="777240"/>
          </a:xfrm>
          <a:prstGeom prst="ellipse">
            <a:avLst/>
          </a:prstGeom>
          <a:solidFill>
            <a:srgbClr val="E3EFFB"/>
          </a:solidFill>
          <a:ln w="12700">
            <a:solidFill>
              <a:srgbClr val="E3EFFB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484" y="2342236"/>
            <a:ext cx="481889" cy="481889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645920" y="21945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9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buNone/>
            </a:pPr>
            <a:r>
              <a:rPr lang="en-US" sz="1600" b="1" dirty="0">
                <a:solidFill>
                  <a:srgbClr val="3B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it mean?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49808" y="3017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D9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Try: </a:t>
            </a:r>
            <a:pPr indent="0" marL="0">
              <a:buNone/>
            </a:pPr>
            <a:r>
              <a:rPr lang="en-US" sz="1250" dirty="0">
                <a:solidFill>
                  <a:srgbClr val="2B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“Slow and steady wins the race.”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31520" y="3319272"/>
            <a:ext cx="3200400" cy="292608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 w="12700">
            <a:solidFill>
              <a:srgbClr val="E3EFF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1248" y="33192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Keep trying, step by step.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311396" y="2011680"/>
            <a:ext cx="3566160" cy="1691640"/>
          </a:xfrm>
          <a:prstGeom prst="roundRect">
            <a:avLst>
              <a:gd name="adj" fmla="val 9730"/>
            </a:avLst>
          </a:prstGeom>
          <a:solidFill>
            <a:srgbClr val="FFFFFF"/>
          </a:solidFill>
          <a:ln w="9525">
            <a:solidFill>
              <a:srgbClr val="E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2B214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12564" y="2194560"/>
            <a:ext cx="777240" cy="777240"/>
          </a:xfrm>
          <a:prstGeom prst="ellipse">
            <a:avLst/>
          </a:prstGeom>
          <a:solidFill>
            <a:srgbClr val="DDF6F3"/>
          </a:solidFill>
          <a:ln w="12700">
            <a:solidFill>
              <a:srgbClr val="DDF6F3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0240" y="2342236"/>
            <a:ext cx="481889" cy="481889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5027485" y="2709482"/>
            <a:ext cx="349758" cy="34975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DF6F3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949" y="2761945"/>
            <a:ext cx="244831" cy="244831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408676" y="21945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buNone/>
            </a:pPr>
            <a:r>
              <a:rPr lang="en-US" sz="1600" b="1" dirty="0">
                <a:solidFill>
                  <a:srgbClr val="3B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are they the same?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4512564" y="3017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Try: </a:t>
            </a:r>
            <a:pPr indent="0" marL="0">
              <a:buNone/>
            </a:pPr>
            <a:r>
              <a:rPr lang="en-US" sz="1250" dirty="0">
                <a:solidFill>
                  <a:srgbClr val="2B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apple and a banana?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4494276" y="3319272"/>
            <a:ext cx="3200400" cy="292608"/>
          </a:xfrm>
          <a:prstGeom prst="roundRect">
            <a:avLst>
              <a:gd name="adj" fmla="val 50000"/>
            </a:avLst>
          </a:prstGeom>
          <a:solidFill>
            <a:srgbClr val="DDF6F3"/>
          </a:solidFill>
          <a:ln w="12700">
            <a:solidFill>
              <a:srgbClr val="DDF6F3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4604004" y="33192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Both are fruits.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8074152" y="2011680"/>
            <a:ext cx="3566160" cy="1691640"/>
          </a:xfrm>
          <a:prstGeom prst="roundRect">
            <a:avLst>
              <a:gd name="adj" fmla="val 9730"/>
            </a:avLst>
          </a:prstGeom>
          <a:solidFill>
            <a:srgbClr val="FFFFFF"/>
          </a:solidFill>
          <a:ln w="9525">
            <a:solidFill>
              <a:srgbClr val="E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2B214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8275320" y="2194560"/>
            <a:ext cx="777240" cy="777240"/>
          </a:xfrm>
          <a:prstGeom prst="ellipse">
            <a:avLst/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2996" y="2342236"/>
            <a:ext cx="481889" cy="481889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8790242" y="2709482"/>
            <a:ext cx="349758" cy="34975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F4D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2705" y="2761945"/>
            <a:ext cx="244831" cy="244831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171432" y="21945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9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buNone/>
            </a:pPr>
            <a:r>
              <a:rPr lang="en-US" sz="1600" b="1" dirty="0">
                <a:solidFill>
                  <a:srgbClr val="3B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groups</a:t>
            </a:r>
            <a:endParaRPr lang="en-US" sz="1600" dirty="0"/>
          </a:p>
        </p:txBody>
      </p:sp>
      <p:sp>
        <p:nvSpPr>
          <p:cNvPr id="32" name="Text 25"/>
          <p:cNvSpPr txBox="1"/>
          <p:nvPr/>
        </p:nvSpPr>
        <p:spPr>
          <a:xfrm>
            <a:off x="8275320" y="3017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09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Try: </a:t>
            </a:r>
            <a:pPr indent="0" marL="0">
              <a:buNone/>
            </a:pPr>
            <a:r>
              <a:rPr lang="en-US" sz="1250" dirty="0">
                <a:solidFill>
                  <a:srgbClr val="2B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Dog, rose, cat, tulip</a:t>
            </a:r>
            <a:endParaRPr lang="en-US" sz="1250" dirty="0"/>
          </a:p>
        </p:txBody>
      </p:sp>
      <p:sp>
        <p:nvSpPr>
          <p:cNvPr id="33" name="Shape 26"/>
          <p:cNvSpPr/>
          <p:nvPr/>
        </p:nvSpPr>
        <p:spPr>
          <a:xfrm>
            <a:off x="8257032" y="3319272"/>
            <a:ext cx="3200400" cy="292608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8366760" y="33192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Animals: dog, cat · Flowers: rose, tulip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548640" y="3886200"/>
            <a:ext cx="3566160" cy="1691640"/>
          </a:xfrm>
          <a:prstGeom prst="roundRect">
            <a:avLst>
              <a:gd name="adj" fmla="val 9730"/>
            </a:avLst>
          </a:prstGeom>
          <a:solidFill>
            <a:srgbClr val="FFFFFF"/>
          </a:solidFill>
          <a:ln w="9525">
            <a:solidFill>
              <a:srgbClr val="E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2B2140">
                <a:alpha val="12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749808" y="4069080"/>
            <a:ext cx="777240" cy="777240"/>
          </a:xfrm>
          <a:prstGeom prst="ellipse">
            <a:avLst/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484" y="4216756"/>
            <a:ext cx="481889" cy="481889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1645920" y="40690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F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pPr indent="0" marL="0">
              <a:buNone/>
            </a:pPr>
            <a:r>
              <a:rPr lang="en-US" sz="1600" b="1" dirty="0">
                <a:solidFill>
                  <a:srgbClr val="3B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Why? / What if?</a:t>
            </a:r>
            <a:endParaRPr lang="en-US" sz="1600" dirty="0"/>
          </a:p>
        </p:txBody>
      </p:sp>
      <p:sp>
        <p:nvSpPr>
          <p:cNvPr id="39" name="Text 31"/>
          <p:cNvSpPr txBox="1"/>
          <p:nvPr/>
        </p:nvSpPr>
        <p:spPr>
          <a:xfrm>
            <a:off x="749808" y="4892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6F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Try: </a:t>
            </a:r>
            <a:pPr indent="0" marL="0">
              <a:buNone/>
            </a:pPr>
            <a:r>
              <a:rPr lang="en-US" sz="1250" dirty="0">
                <a:solidFill>
                  <a:srgbClr val="2B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we use umbrellas?</a:t>
            </a:r>
            <a:endParaRPr lang="en-US" sz="1250" dirty="0"/>
          </a:p>
        </p:txBody>
      </p:sp>
      <p:sp>
        <p:nvSpPr>
          <p:cNvPr id="40" name="Shape 32"/>
          <p:cNvSpPr/>
          <p:nvPr/>
        </p:nvSpPr>
        <p:spPr>
          <a:xfrm>
            <a:off x="731520" y="5193792"/>
            <a:ext cx="3200400" cy="292608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41" name="Text 33"/>
          <p:cNvSpPr txBox="1"/>
          <p:nvPr/>
        </p:nvSpPr>
        <p:spPr>
          <a:xfrm>
            <a:off x="841248" y="519379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To stay dry. No umbrella = wet!</a:t>
            </a:r>
            <a:endParaRPr lang="en-US" sz="1100" dirty="0"/>
          </a:p>
        </p:txBody>
      </p:sp>
      <p:sp>
        <p:nvSpPr>
          <p:cNvPr id="42" name="Shape 34"/>
          <p:cNvSpPr/>
          <p:nvPr/>
        </p:nvSpPr>
        <p:spPr>
          <a:xfrm>
            <a:off x="4311396" y="3886200"/>
            <a:ext cx="3566160" cy="1691640"/>
          </a:xfrm>
          <a:prstGeom prst="roundRect">
            <a:avLst>
              <a:gd name="adj" fmla="val 9730"/>
            </a:avLst>
          </a:prstGeom>
          <a:solidFill>
            <a:srgbClr val="FFFFFF"/>
          </a:solidFill>
          <a:ln w="9525">
            <a:solidFill>
              <a:srgbClr val="E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2B2140">
                <a:alpha val="12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4512564" y="4069080"/>
            <a:ext cx="777240" cy="777240"/>
          </a:xfrm>
          <a:prstGeom prst="ellipse">
            <a:avLst/>
          </a:prstGeom>
          <a:solidFill>
            <a:srgbClr val="F1ECF8"/>
          </a:solidFill>
          <a:ln w="12700">
            <a:solidFill>
              <a:srgbClr val="F1ECF8"/>
            </a:solidFill>
            <a:prstDash val="solid"/>
          </a:ln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0240" y="4216756"/>
            <a:ext cx="481889" cy="481889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5408676" y="40690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5B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</a:t>
            </a:r>
            <a:pPr indent="0" marL="0">
              <a:buNone/>
            </a:pPr>
            <a:r>
              <a:rPr lang="en-US" sz="1600" b="1" dirty="0">
                <a:solidFill>
                  <a:srgbClr val="3B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without the word</a:t>
            </a:r>
            <a:endParaRPr lang="en-US" sz="1600" dirty="0"/>
          </a:p>
        </p:txBody>
      </p:sp>
      <p:sp>
        <p:nvSpPr>
          <p:cNvPr id="46" name="Text 37"/>
          <p:cNvSpPr txBox="1"/>
          <p:nvPr/>
        </p:nvSpPr>
        <p:spPr>
          <a:xfrm>
            <a:off x="4512564" y="4892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7B5B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Try: </a:t>
            </a:r>
            <a:pPr indent="0" marL="0">
              <a:buNone/>
            </a:pPr>
            <a:r>
              <a:rPr lang="en-US" sz="1250" dirty="0">
                <a:solidFill>
                  <a:srgbClr val="2B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“apple” without saying it.</a:t>
            </a:r>
            <a:endParaRPr lang="en-US" sz="1250" dirty="0"/>
          </a:p>
        </p:txBody>
      </p:sp>
      <p:sp>
        <p:nvSpPr>
          <p:cNvPr id="47" name="Shape 38"/>
          <p:cNvSpPr/>
          <p:nvPr/>
        </p:nvSpPr>
        <p:spPr>
          <a:xfrm>
            <a:off x="4494276" y="5193792"/>
            <a:ext cx="3200400" cy="292608"/>
          </a:xfrm>
          <a:prstGeom prst="roundRect">
            <a:avLst>
              <a:gd name="adj" fmla="val 50000"/>
            </a:avLst>
          </a:prstGeom>
          <a:solidFill>
            <a:srgbClr val="F1ECF8"/>
          </a:solidFill>
          <a:ln w="12700">
            <a:solidFill>
              <a:srgbClr val="F1ECF8"/>
            </a:solidFill>
            <a:prstDash val="solid"/>
          </a:ln>
        </p:spPr>
      </p:sp>
      <p:sp>
        <p:nvSpPr>
          <p:cNvPr id="48" name="Text 39"/>
          <p:cNvSpPr txBox="1"/>
          <p:nvPr/>
        </p:nvSpPr>
        <p:spPr>
          <a:xfrm>
            <a:off x="4604004" y="519379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A red, round fruit that grows on trees.</a:t>
            </a:r>
            <a:endParaRPr lang="en-US" sz="1100" dirty="0"/>
          </a:p>
        </p:txBody>
      </p:sp>
      <p:sp>
        <p:nvSpPr>
          <p:cNvPr id="49" name="Shape 40"/>
          <p:cNvSpPr/>
          <p:nvPr/>
        </p:nvSpPr>
        <p:spPr>
          <a:xfrm>
            <a:off x="8074152" y="3886200"/>
            <a:ext cx="3566160" cy="1691640"/>
          </a:xfrm>
          <a:prstGeom prst="roundRect">
            <a:avLst>
              <a:gd name="adj" fmla="val 9730"/>
            </a:avLst>
          </a:prstGeom>
          <a:solidFill>
            <a:srgbClr val="FFFFFF"/>
          </a:solidFill>
          <a:ln w="9525">
            <a:solidFill>
              <a:srgbClr val="E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2B2140">
                <a:alpha val="12000"/>
              </a:srgbClr>
            </a:outerShdw>
          </a:effectLst>
        </p:spPr>
      </p:sp>
      <p:sp>
        <p:nvSpPr>
          <p:cNvPr id="50" name="Shape 41"/>
          <p:cNvSpPr/>
          <p:nvPr/>
        </p:nvSpPr>
        <p:spPr>
          <a:xfrm>
            <a:off x="8275320" y="4069080"/>
            <a:ext cx="777240" cy="777240"/>
          </a:xfrm>
          <a:prstGeom prst="ellipse">
            <a:avLst/>
          </a:prstGeom>
          <a:solidFill>
            <a:srgbClr val="E3EFFB"/>
          </a:solidFill>
          <a:ln w="12700">
            <a:solidFill>
              <a:srgbClr val="E3EFFB"/>
            </a:solidFill>
            <a:prstDash val="solid"/>
          </a:ln>
        </p:spPr>
      </p:sp>
      <p:pic>
        <p:nvPicPr>
          <p:cNvPr id="5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2996" y="4216756"/>
            <a:ext cx="481889" cy="481889"/>
          </a:xfrm>
          <a:prstGeom prst="rect">
            <a:avLst/>
          </a:prstGeom>
        </p:spPr>
      </p:pic>
      <p:sp>
        <p:nvSpPr>
          <p:cNvPr id="52" name="Text 42"/>
          <p:cNvSpPr txBox="1"/>
          <p:nvPr/>
        </p:nvSpPr>
        <p:spPr>
          <a:xfrm>
            <a:off x="9171432" y="40690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9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</a:t>
            </a:r>
            <a:pPr indent="0" marL="0">
              <a:buNone/>
            </a:pPr>
            <a:r>
              <a:rPr lang="en-US" sz="1600" b="1" dirty="0">
                <a:solidFill>
                  <a:srgbClr val="3B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it in one line</a:t>
            </a:r>
            <a:endParaRPr lang="en-US" sz="1600" dirty="0"/>
          </a:p>
        </p:txBody>
      </p:sp>
      <p:sp>
        <p:nvSpPr>
          <p:cNvPr id="53" name="Text 43"/>
          <p:cNvSpPr txBox="1"/>
          <p:nvPr/>
        </p:nvSpPr>
        <p:spPr>
          <a:xfrm>
            <a:off x="8275320" y="4892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D9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Try: </a:t>
            </a:r>
            <a:pPr indent="0" marL="0">
              <a:buNone/>
            </a:pPr>
            <a:r>
              <a:rPr lang="en-US" sz="1250" dirty="0">
                <a:solidFill>
                  <a:srgbClr val="2B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 short story.</a:t>
            </a:r>
            <a:endParaRPr lang="en-US" sz="1250" dirty="0"/>
          </a:p>
        </p:txBody>
      </p:sp>
      <p:sp>
        <p:nvSpPr>
          <p:cNvPr id="54" name="Shape 44"/>
          <p:cNvSpPr/>
          <p:nvPr/>
        </p:nvSpPr>
        <p:spPr>
          <a:xfrm>
            <a:off x="8257032" y="5193792"/>
            <a:ext cx="3200400" cy="292608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 w="12700">
            <a:solidFill>
              <a:srgbClr val="E3EFFB"/>
            </a:solidFill>
            <a:prstDash val="solid"/>
          </a:ln>
        </p:spPr>
      </p:sp>
      <p:sp>
        <p:nvSpPr>
          <p:cNvPr id="55" name="Text 45"/>
          <p:cNvSpPr txBox="1"/>
          <p:nvPr/>
        </p:nvSpPr>
        <p:spPr>
          <a:xfrm>
            <a:off x="8366760" y="519379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Tell the main idea in one sentence.</a:t>
            </a:r>
            <a:endParaRPr lang="en-US" sz="1100" dirty="0"/>
          </a:p>
        </p:txBody>
      </p:sp>
      <p:sp>
        <p:nvSpPr>
          <p:cNvPr id="56" name="Shape 46"/>
          <p:cNvSpPr/>
          <p:nvPr/>
        </p:nvSpPr>
        <p:spPr>
          <a:xfrm>
            <a:off x="548640" y="5806440"/>
            <a:ext cx="548640" cy="548640"/>
          </a:xfrm>
          <a:prstGeom prst="ellipse">
            <a:avLst/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2882" y="5910682"/>
            <a:ext cx="340157" cy="340157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1234440" y="5806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F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day, 10 minutes: </a:t>
            </a:r>
            <a:pPr indent="0" marL="0">
              <a:buNone/>
            </a:pPr>
            <a:r>
              <a:rPr lang="en-US" sz="1800" b="1" dirty="0">
                <a:solidFill>
                  <a:srgbClr val="3B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thing, one meaning, one new link.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-1005840"/>
            <a:ext cx="2651760" cy="2651760"/>
          </a:xfrm>
          <a:prstGeom prst="ellipse">
            <a:avLst/>
          </a:prstGeom>
          <a:solidFill>
            <a:srgbClr val="DDF6F3"/>
          </a:solidFill>
          <a:ln w="12700">
            <a:solidFill>
              <a:srgbClr val="DDF6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87000" y="868680"/>
            <a:ext cx="411480" cy="41148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11480"/>
            <a:ext cx="2542032" cy="365760"/>
          </a:xfrm>
          <a:prstGeom prst="roundRect">
            <a:avLst>
              <a:gd name="adj" fmla="val 50000"/>
            </a:avLst>
          </a:prstGeom>
          <a:solidFill>
            <a:srgbClr val="DDF6F3"/>
          </a:solidFill>
          <a:ln w="12700">
            <a:solidFill>
              <a:srgbClr val="DDF6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41148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DAILY EXERCISE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6868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one idea every day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0876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Climb 5 easy steps. Today’s example idea: feeling sad.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&amp; Creative Thinking  ·  Psychiatry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18311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2057400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2B214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57400" y="2606040"/>
            <a:ext cx="384048" cy="384048"/>
          </a:xfrm>
          <a:prstGeom prst="ellipse">
            <a:avLst/>
          </a:prstGeom>
          <a:solidFill>
            <a:srgbClr val="4D9DE0"/>
          </a:solidFill>
          <a:ln w="12700">
            <a:solidFill>
              <a:srgbClr val="4D9D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05740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2606040"/>
            <a:ext cx="822960" cy="822960"/>
          </a:xfrm>
          <a:prstGeom prst="ellipse">
            <a:avLst/>
          </a:prstGeom>
          <a:solidFill>
            <a:srgbClr val="E3EFFB"/>
          </a:solidFill>
          <a:ln w="12700">
            <a:solidFill>
              <a:srgbClr val="E3EFFB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2762402"/>
            <a:ext cx="510235" cy="510235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731520" y="35204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it?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85800" y="4160520"/>
            <a:ext cx="1783080" cy="914400"/>
          </a:xfrm>
          <a:prstGeom prst="roundRect">
            <a:avLst>
              <a:gd name="adj" fmla="val 12000"/>
            </a:avLst>
          </a:prstGeom>
          <a:solidFill>
            <a:srgbClr val="E3EFFB"/>
          </a:solidFill>
          <a:ln w="12700">
            <a:solidFill>
              <a:srgbClr val="E3EFF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95528" y="416052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Feeling very low for many days.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2807208" y="2331720"/>
            <a:ext cx="2057400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2B214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315968" y="2514600"/>
            <a:ext cx="384048" cy="38404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15968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2990088" y="2514600"/>
            <a:ext cx="822960" cy="822960"/>
          </a:xfrm>
          <a:prstGeom prst="ellipse">
            <a:avLst/>
          </a:prstGeom>
          <a:solidFill>
            <a:srgbClr val="DDF6F3"/>
          </a:solidFill>
          <a:ln w="12700">
            <a:solidFill>
              <a:srgbClr val="DDF6F3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6450" y="2670962"/>
            <a:ext cx="510235" cy="510235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2990088" y="34290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it happen?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2944368" y="4069080"/>
            <a:ext cx="1783080" cy="914400"/>
          </a:xfrm>
          <a:prstGeom prst="roundRect">
            <a:avLst>
              <a:gd name="adj" fmla="val 12000"/>
            </a:avLst>
          </a:prstGeom>
          <a:solidFill>
            <a:srgbClr val="DDF6F3"/>
          </a:solidFill>
          <a:ln w="12700">
            <a:solidFill>
              <a:srgbClr val="DDF6F3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3054096" y="40690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Stress, loss, or changes in the brain.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5065776" y="2240280"/>
            <a:ext cx="2057400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2B2140">
                <a:alpha val="12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6574536" y="2423160"/>
            <a:ext cx="384048" cy="384048"/>
          </a:xfrm>
          <a:prstGeom prst="ellipse">
            <a:avLst/>
          </a:prstGeom>
          <a:solidFill>
            <a:srgbClr val="E09A00"/>
          </a:solidFill>
          <a:ln w="12700">
            <a:solidFill>
              <a:srgbClr val="E09A00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574536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5248656" y="2423160"/>
            <a:ext cx="822960" cy="822960"/>
          </a:xfrm>
          <a:prstGeom prst="ellipse">
            <a:avLst/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5018" y="2579522"/>
            <a:ext cx="510235" cy="510235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5248656" y="33375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it change?</a:t>
            </a:r>
            <a:endParaRPr lang="en-US" sz="1600" dirty="0"/>
          </a:p>
        </p:txBody>
      </p:sp>
      <p:sp>
        <p:nvSpPr>
          <p:cNvPr id="32" name="Shape 27"/>
          <p:cNvSpPr/>
          <p:nvPr/>
        </p:nvSpPr>
        <p:spPr>
          <a:xfrm>
            <a:off x="5202936" y="3977640"/>
            <a:ext cx="1783080" cy="914400"/>
          </a:xfrm>
          <a:prstGeom prst="roundRect">
            <a:avLst>
              <a:gd name="adj" fmla="val 12000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5312664" y="397764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Sleep, food, energy, and mood.</a:t>
            </a:r>
            <a:endParaRPr lang="en-US" sz="1300" dirty="0"/>
          </a:p>
        </p:txBody>
      </p:sp>
      <p:sp>
        <p:nvSpPr>
          <p:cNvPr id="34" name="Shape 29"/>
          <p:cNvSpPr/>
          <p:nvPr/>
        </p:nvSpPr>
        <p:spPr>
          <a:xfrm>
            <a:off x="7324344" y="2148840"/>
            <a:ext cx="2057400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2B2140">
                <a:alpha val="12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8833104" y="2331720"/>
            <a:ext cx="384048" cy="384048"/>
          </a:xfrm>
          <a:prstGeom prst="ellipse">
            <a:avLst/>
          </a:prstGeom>
          <a:solidFill>
            <a:srgbClr val="FF6F61"/>
          </a:solidFill>
          <a:ln w="12700">
            <a:solidFill>
              <a:srgbClr val="FF6F61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8833104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Shape 32"/>
          <p:cNvSpPr/>
          <p:nvPr/>
        </p:nvSpPr>
        <p:spPr>
          <a:xfrm>
            <a:off x="7507224" y="2331720"/>
            <a:ext cx="822960" cy="822960"/>
          </a:xfrm>
          <a:prstGeom prst="ellipse">
            <a:avLst/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3586" y="2488082"/>
            <a:ext cx="510235" cy="510235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7507224" y="3246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an example</a:t>
            </a:r>
            <a:endParaRPr lang="en-US" sz="1600" dirty="0"/>
          </a:p>
        </p:txBody>
      </p:sp>
      <p:sp>
        <p:nvSpPr>
          <p:cNvPr id="40" name="Shape 34"/>
          <p:cNvSpPr/>
          <p:nvPr/>
        </p:nvSpPr>
        <p:spPr>
          <a:xfrm>
            <a:off x="7461504" y="3886200"/>
            <a:ext cx="1783080" cy="914400"/>
          </a:xfrm>
          <a:prstGeom prst="roundRect">
            <a:avLst>
              <a:gd name="adj" fmla="val 12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7571232" y="38862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 stops playing with his friends.</a:t>
            </a:r>
            <a:endParaRPr lang="en-US" sz="1300" dirty="0"/>
          </a:p>
        </p:txBody>
      </p:sp>
      <p:sp>
        <p:nvSpPr>
          <p:cNvPr id="42" name="Shape 36"/>
          <p:cNvSpPr/>
          <p:nvPr/>
        </p:nvSpPr>
        <p:spPr>
          <a:xfrm>
            <a:off x="9582912" y="2057400"/>
            <a:ext cx="2057400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2B2140">
                <a:alpha val="12000"/>
              </a:srgbClr>
            </a:outerShdw>
          </a:effectLst>
        </p:spPr>
      </p:sp>
      <p:sp>
        <p:nvSpPr>
          <p:cNvPr id="43" name="Shape 37"/>
          <p:cNvSpPr/>
          <p:nvPr/>
        </p:nvSpPr>
        <p:spPr>
          <a:xfrm>
            <a:off x="11091672" y="2240280"/>
            <a:ext cx="384048" cy="384048"/>
          </a:xfrm>
          <a:prstGeom prst="ellipse">
            <a:avLst/>
          </a:prstGeom>
          <a:solidFill>
            <a:srgbClr val="7B5BA6"/>
          </a:solidFill>
          <a:ln w="12700">
            <a:solidFill>
              <a:srgbClr val="7B5BA6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11091672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45" name="Shape 39"/>
          <p:cNvSpPr/>
          <p:nvPr/>
        </p:nvSpPr>
        <p:spPr>
          <a:xfrm>
            <a:off x="9765792" y="2240280"/>
            <a:ext cx="822960" cy="822960"/>
          </a:xfrm>
          <a:prstGeom prst="ellipse">
            <a:avLst/>
          </a:prstGeom>
          <a:solidFill>
            <a:srgbClr val="F1ECF8"/>
          </a:solidFill>
          <a:ln w="12700">
            <a:solidFill>
              <a:srgbClr val="F1ECF8"/>
            </a:solidFill>
            <a:prstDash val="solid"/>
          </a:ln>
        </p:spPr>
      </p:sp>
      <p:pic>
        <p:nvPicPr>
          <p:cNvPr id="4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2154" y="2396642"/>
            <a:ext cx="510235" cy="510235"/>
          </a:xfrm>
          <a:prstGeom prst="rect">
            <a:avLst/>
          </a:prstGeom>
        </p:spPr>
      </p:pic>
      <p:sp>
        <p:nvSpPr>
          <p:cNvPr id="47" name="Text 40"/>
          <p:cNvSpPr txBox="1"/>
          <p:nvPr/>
        </p:nvSpPr>
        <p:spPr>
          <a:xfrm>
            <a:off x="9765792" y="31546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it linked to?</a:t>
            </a:r>
            <a:endParaRPr lang="en-US" sz="1600" dirty="0"/>
          </a:p>
        </p:txBody>
      </p:sp>
      <p:sp>
        <p:nvSpPr>
          <p:cNvPr id="48" name="Shape 41"/>
          <p:cNvSpPr/>
          <p:nvPr/>
        </p:nvSpPr>
        <p:spPr>
          <a:xfrm>
            <a:off x="9720072" y="3794760"/>
            <a:ext cx="1783080" cy="914400"/>
          </a:xfrm>
          <a:prstGeom prst="roundRect">
            <a:avLst>
              <a:gd name="adj" fmla="val 12000"/>
            </a:avLst>
          </a:prstGeom>
          <a:solidFill>
            <a:srgbClr val="F1ECF8"/>
          </a:solidFill>
          <a:ln w="12700">
            <a:solidFill>
              <a:srgbClr val="F1ECF8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9829800" y="379476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 problems and slow thinking.</a:t>
            </a:r>
            <a:endParaRPr lang="en-US" sz="1300" dirty="0"/>
          </a:p>
        </p:txBody>
      </p:sp>
      <p:sp>
        <p:nvSpPr>
          <p:cNvPr id="50" name="Shape 43"/>
          <p:cNvSpPr/>
          <p:nvPr/>
        </p:nvSpPr>
        <p:spPr>
          <a:xfrm>
            <a:off x="548640" y="5532120"/>
            <a:ext cx="640080" cy="640080"/>
          </a:xfrm>
          <a:prstGeom prst="ellipse">
            <a:avLst/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pic>
        <p:nvPicPr>
          <p:cNvPr id="5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255" y="5653735"/>
            <a:ext cx="396850" cy="396850"/>
          </a:xfrm>
          <a:prstGeom prst="rect">
            <a:avLst/>
          </a:prstGeom>
        </p:spPr>
      </p:pic>
      <p:sp>
        <p:nvSpPr>
          <p:cNvPr id="52" name="Shape 44"/>
          <p:cNvSpPr/>
          <p:nvPr/>
        </p:nvSpPr>
        <p:spPr>
          <a:xfrm>
            <a:off x="1371600" y="5577840"/>
            <a:ext cx="10268712" cy="548640"/>
          </a:xfrm>
          <a:prstGeom prst="roundRect">
            <a:avLst>
              <a:gd name="adj" fmla="val 50000"/>
            </a:avLst>
          </a:prstGeom>
          <a:solidFill>
            <a:srgbClr val="3B1F5C"/>
          </a:solidFill>
          <a:ln w="12700">
            <a:solidFill>
              <a:srgbClr val="3B1F5C"/>
            </a:solidFill>
            <a:prstDash val="solid"/>
          </a:ln>
        </p:spPr>
      </p:sp>
      <p:sp>
        <p:nvSpPr>
          <p:cNvPr id="53" name="Text 45"/>
          <p:cNvSpPr txBox="1"/>
          <p:nvPr/>
        </p:nvSpPr>
        <p:spPr>
          <a:xfrm>
            <a:off x="1645920" y="55778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practise the thinking, not the words. Tomorrow try a new idea, like “worry” or “sleep”.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-1005840"/>
            <a:ext cx="2651760" cy="2651760"/>
          </a:xfrm>
          <a:prstGeom prst="ellipse">
            <a:avLst/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87000" y="868680"/>
            <a:ext cx="411480" cy="411480"/>
          </a:xfrm>
          <a:prstGeom prst="ellipse">
            <a:avLst/>
          </a:prstGeom>
          <a:solidFill>
            <a:srgbClr val="FF6F61"/>
          </a:solidFill>
          <a:ln w="12700">
            <a:solidFill>
              <a:srgbClr val="FF6F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114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411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6F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6868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can I improve creative thinking?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0876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more than one idea first. Decide which is best later.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&amp; Creative Thinking  ·  Psychiatry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18311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011680"/>
            <a:ext cx="3703320" cy="10972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2B214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2167128"/>
            <a:ext cx="786384" cy="786384"/>
          </a:xfrm>
          <a:prstGeom prst="ellipse">
            <a:avLst/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645" y="2316541"/>
            <a:ext cx="487558" cy="487558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645920" y="213969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uses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645920" y="24871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Spoon: eat, stir, dig, drum… find 10!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434840" y="2011680"/>
            <a:ext cx="3703320" cy="10972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2B214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99432" y="2167128"/>
            <a:ext cx="786384" cy="786384"/>
          </a:xfrm>
          <a:prstGeom prst="ellipse">
            <a:avLst/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845" y="2316541"/>
            <a:ext cx="487558" cy="48755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532120" y="213969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if?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5532120" y="24871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it rained chocolate?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548640" y="3246120"/>
            <a:ext cx="3703320" cy="10972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2B214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13232" y="3401568"/>
            <a:ext cx="786384" cy="786384"/>
          </a:xfrm>
          <a:prstGeom prst="ellipse">
            <a:avLst/>
          </a:prstGeom>
          <a:solidFill>
            <a:srgbClr val="E3EFFB"/>
          </a:solidFill>
          <a:ln w="12700">
            <a:solidFill>
              <a:srgbClr val="E3EFFB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645" y="3550981"/>
            <a:ext cx="487558" cy="48755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645920" y="337413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problem, 3 answers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1645920" y="372160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pen? Borrow one, use a pencil, or a phone.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4434840" y="3246120"/>
            <a:ext cx="3703320" cy="10972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2B214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599432" y="3401568"/>
            <a:ext cx="786384" cy="786384"/>
          </a:xfrm>
          <a:prstGeom prst="ellipse">
            <a:avLst/>
          </a:prstGeom>
          <a:solidFill>
            <a:srgbClr val="DDF6F3"/>
          </a:solidFill>
          <a:ln w="12700">
            <a:solidFill>
              <a:srgbClr val="DDF6F3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8845" y="3550981"/>
            <a:ext cx="487558" cy="487558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5120411" y="3922547"/>
            <a:ext cx="353873" cy="35387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DF6F3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3492" y="3975628"/>
            <a:ext cx="247711" cy="247711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5532120" y="337413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 two things</a:t>
            </a:r>
            <a:endParaRPr lang="en-US" sz="1600" dirty="0"/>
          </a:p>
        </p:txBody>
      </p:sp>
      <p:sp>
        <p:nvSpPr>
          <p:cNvPr id="31" name="Text 24"/>
          <p:cNvSpPr txBox="1"/>
          <p:nvPr/>
        </p:nvSpPr>
        <p:spPr>
          <a:xfrm>
            <a:off x="5532120" y="372160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+ notebook = a notebook that talks!</a:t>
            </a:r>
            <a:endParaRPr lang="en-US" sz="1300" dirty="0"/>
          </a:p>
        </p:txBody>
      </p:sp>
      <p:sp>
        <p:nvSpPr>
          <p:cNvPr id="32" name="Shape 25"/>
          <p:cNvSpPr/>
          <p:nvPr/>
        </p:nvSpPr>
        <p:spPr>
          <a:xfrm>
            <a:off x="548640" y="4480560"/>
            <a:ext cx="3703320" cy="10972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2B2140">
                <a:alpha val="12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713232" y="4636008"/>
            <a:ext cx="786384" cy="786384"/>
          </a:xfrm>
          <a:prstGeom prst="ellipse">
            <a:avLst/>
          </a:prstGeom>
          <a:solidFill>
            <a:srgbClr val="F1ECF8"/>
          </a:solidFill>
          <a:ln w="12700">
            <a:solidFill>
              <a:srgbClr val="F1ECF8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645" y="4785421"/>
            <a:ext cx="487558" cy="487558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1645920" y="460857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different endings</a:t>
            </a:r>
            <a:endParaRPr lang="en-US" sz="1600" dirty="0"/>
          </a:p>
        </p:txBody>
      </p:sp>
      <p:sp>
        <p:nvSpPr>
          <p:cNvPr id="36" name="Text 28"/>
          <p:cNvSpPr txBox="1"/>
          <p:nvPr/>
        </p:nvSpPr>
        <p:spPr>
          <a:xfrm>
            <a:off x="1645920" y="495604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dog runs away… make 3 happy endings.</a:t>
            </a:r>
            <a:endParaRPr lang="en-US" sz="1300" dirty="0"/>
          </a:p>
        </p:txBody>
      </p:sp>
      <p:sp>
        <p:nvSpPr>
          <p:cNvPr id="37" name="Shape 29"/>
          <p:cNvSpPr/>
          <p:nvPr/>
        </p:nvSpPr>
        <p:spPr>
          <a:xfrm>
            <a:off x="4434840" y="4480560"/>
            <a:ext cx="3703320" cy="10972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2B2140">
                <a:alpha val="12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4599432" y="4636008"/>
            <a:ext cx="786384" cy="786384"/>
          </a:xfrm>
          <a:prstGeom prst="ellipse">
            <a:avLst/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8845" y="4785421"/>
            <a:ext cx="487558" cy="487558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5532120" y="460857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 ideas</a:t>
            </a:r>
            <a:endParaRPr lang="en-US" sz="1600" dirty="0"/>
          </a:p>
        </p:txBody>
      </p:sp>
      <p:sp>
        <p:nvSpPr>
          <p:cNvPr id="41" name="Text 32"/>
          <p:cNvSpPr txBox="1"/>
          <p:nvPr/>
        </p:nvSpPr>
        <p:spPr>
          <a:xfrm>
            <a:off x="5532120" y="495604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Rainy-day fun: say as many ideas as you can.</a:t>
            </a:r>
            <a:endParaRPr lang="en-US" sz="1300" dirty="0"/>
          </a:p>
        </p:txBody>
      </p:sp>
      <p:sp>
        <p:nvSpPr>
          <p:cNvPr id="42" name="Shape 33"/>
          <p:cNvSpPr/>
          <p:nvPr/>
        </p:nvSpPr>
        <p:spPr>
          <a:xfrm>
            <a:off x="8321040" y="2011680"/>
            <a:ext cx="3319272" cy="3566160"/>
          </a:xfrm>
          <a:prstGeom prst="roundRect">
            <a:avLst>
              <a:gd name="adj" fmla="val 4959"/>
            </a:avLst>
          </a:prstGeom>
          <a:solidFill>
            <a:srgbClr val="3B1F5C"/>
          </a:solidFill>
          <a:ln w="12700">
            <a:solidFill>
              <a:srgbClr val="3B1F5C"/>
            </a:solidFill>
            <a:prstDash val="solid"/>
          </a:ln>
        </p:spPr>
      </p:sp>
      <p:sp>
        <p:nvSpPr>
          <p:cNvPr id="43" name="Text 34"/>
          <p:cNvSpPr txBox="1"/>
          <p:nvPr/>
        </p:nvSpPr>
        <p:spPr>
          <a:xfrm>
            <a:off x="859536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RULE</a:t>
            </a:r>
            <a:endParaRPr lang="en-US" sz="1200" dirty="0"/>
          </a:p>
        </p:txBody>
      </p:sp>
      <p:sp>
        <p:nvSpPr>
          <p:cNvPr id="44" name="Shape 35"/>
          <p:cNvSpPr/>
          <p:nvPr/>
        </p:nvSpPr>
        <p:spPr>
          <a:xfrm>
            <a:off x="8595360" y="2606040"/>
            <a:ext cx="566928" cy="566928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03076" y="2713756"/>
            <a:ext cx="351495" cy="351495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9326880" y="260604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ideas</a:t>
            </a:r>
            <a:endParaRPr lang="en-US" sz="1800" dirty="0"/>
          </a:p>
        </p:txBody>
      </p:sp>
      <p:sp>
        <p:nvSpPr>
          <p:cNvPr id="47" name="Shape 37"/>
          <p:cNvSpPr/>
          <p:nvPr/>
        </p:nvSpPr>
        <p:spPr>
          <a:xfrm>
            <a:off x="8595360" y="3337560"/>
            <a:ext cx="566928" cy="56692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03076" y="3445276"/>
            <a:ext cx="351495" cy="351495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9326880" y="333756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closer</a:t>
            </a:r>
            <a:endParaRPr lang="en-US" sz="1800" dirty="0"/>
          </a:p>
        </p:txBody>
      </p:sp>
      <p:sp>
        <p:nvSpPr>
          <p:cNvPr id="50" name="Shape 39"/>
          <p:cNvSpPr/>
          <p:nvPr/>
        </p:nvSpPr>
        <p:spPr>
          <a:xfrm>
            <a:off x="8595360" y="4069080"/>
            <a:ext cx="566928" cy="566928"/>
          </a:xfrm>
          <a:prstGeom prst="ellipse">
            <a:avLst/>
          </a:prstGeom>
          <a:solidFill>
            <a:srgbClr val="4D9DE0"/>
          </a:solidFill>
          <a:ln w="12700">
            <a:solidFill>
              <a:srgbClr val="4D9DE0"/>
            </a:solidFill>
            <a:prstDash val="solid"/>
          </a:ln>
        </p:spPr>
      </p:sp>
      <p:pic>
        <p:nvPicPr>
          <p:cNvPr id="5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03076" y="4176796"/>
            <a:ext cx="351495" cy="351495"/>
          </a:xfrm>
          <a:prstGeom prst="rect">
            <a:avLst/>
          </a:prstGeom>
        </p:spPr>
      </p:pic>
      <p:sp>
        <p:nvSpPr>
          <p:cNvPr id="52" name="Text 40"/>
          <p:cNvSpPr txBox="1"/>
          <p:nvPr/>
        </p:nvSpPr>
        <p:spPr>
          <a:xfrm>
            <a:off x="9326880" y="406908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 them</a:t>
            </a:r>
            <a:endParaRPr lang="en-US" sz="1800" dirty="0"/>
          </a:p>
        </p:txBody>
      </p:sp>
      <p:sp>
        <p:nvSpPr>
          <p:cNvPr id="53" name="Shape 41"/>
          <p:cNvSpPr/>
          <p:nvPr/>
        </p:nvSpPr>
        <p:spPr>
          <a:xfrm>
            <a:off x="8595360" y="4800600"/>
            <a:ext cx="566928" cy="566928"/>
          </a:xfrm>
          <a:prstGeom prst="ellipse">
            <a:avLst/>
          </a:prstGeom>
          <a:solidFill>
            <a:srgbClr val="FF6F61"/>
          </a:solidFill>
          <a:ln w="12700">
            <a:solidFill>
              <a:srgbClr val="FF6F61"/>
            </a:solidFill>
            <a:prstDash val="solid"/>
          </a:ln>
        </p:spPr>
      </p:sp>
      <p:pic>
        <p:nvPicPr>
          <p:cNvPr id="5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03076" y="4908316"/>
            <a:ext cx="351495" cy="351495"/>
          </a:xfrm>
          <a:prstGeom prst="rect">
            <a:avLst/>
          </a:prstGeom>
        </p:spPr>
      </p:pic>
      <p:sp>
        <p:nvSpPr>
          <p:cNvPr id="55" name="Text 42"/>
          <p:cNvSpPr txBox="1"/>
          <p:nvPr/>
        </p:nvSpPr>
        <p:spPr>
          <a:xfrm>
            <a:off x="9326880" y="480060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better</a:t>
            </a:r>
            <a:endParaRPr lang="en-US" sz="1800" dirty="0"/>
          </a:p>
        </p:txBody>
      </p:sp>
      <p:sp>
        <p:nvSpPr>
          <p:cNvPr id="56" name="Shape 43"/>
          <p:cNvSpPr/>
          <p:nvPr/>
        </p:nvSpPr>
        <p:spPr>
          <a:xfrm>
            <a:off x="548640" y="5760720"/>
            <a:ext cx="566928" cy="566928"/>
          </a:xfrm>
          <a:prstGeom prst="ellipse">
            <a:avLst/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pic>
        <p:nvPicPr>
          <p:cNvPr id="5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6356" y="5868436"/>
            <a:ext cx="351495" cy="351495"/>
          </a:xfrm>
          <a:prstGeom prst="rect">
            <a:avLst/>
          </a:prstGeom>
        </p:spPr>
      </p:pic>
      <p:sp>
        <p:nvSpPr>
          <p:cNvPr id="58" name="Text 44"/>
          <p:cNvSpPr txBox="1"/>
          <p:nvPr/>
        </p:nvSpPr>
        <p:spPr>
          <a:xfrm>
            <a:off x="1280160" y="576072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F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game: </a:t>
            </a:r>
            <a:pPr indent="0" marL="0">
              <a:buNone/>
            </a:pPr>
            <a:r>
              <a:rPr lang="en-US" sz="1800" b="1" dirty="0">
                <a:solidFill>
                  <a:srgbClr val="3B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uses for a paper clip in 60 seconds?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-1005840"/>
            <a:ext cx="2651760" cy="2651760"/>
          </a:xfrm>
          <a:prstGeom prst="ellipse">
            <a:avLst/>
          </a:prstGeom>
          <a:solidFill>
            <a:srgbClr val="F1ECF8"/>
          </a:solidFill>
          <a:ln w="12700">
            <a:solidFill>
              <a:srgbClr val="F1EC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87000" y="868680"/>
            <a:ext cx="411480" cy="411480"/>
          </a:xfrm>
          <a:prstGeom prst="ellipse">
            <a:avLst/>
          </a:prstGeom>
          <a:solidFill>
            <a:srgbClr val="7B5BA6"/>
          </a:solidFill>
          <a:ln w="12700">
            <a:solidFill>
              <a:srgbClr val="7B5B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114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1ECF8"/>
          </a:solidFill>
          <a:ln w="12700">
            <a:solidFill>
              <a:srgbClr val="F1EC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411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7B5B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6868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 doctor, how can I check these skills?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0876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simple questions during the mental health check-up (MSE).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&amp; Creative Thinking  ·  Psychiatry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18311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011680"/>
            <a:ext cx="11091672" cy="640080"/>
          </a:xfrm>
          <a:prstGeom prst="roundRect">
            <a:avLst>
              <a:gd name="adj" fmla="val 25714"/>
            </a:avLst>
          </a:prstGeom>
          <a:solidFill>
            <a:srgbClr val="F1ECF8"/>
          </a:solidFill>
          <a:ln w="12700">
            <a:solidFill>
              <a:srgbClr val="F1EC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075688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092" y="2172980"/>
            <a:ext cx="317480" cy="31748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371600" y="2011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no single “right” answer. Look for meaning and for many ideas.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48640" y="2880360"/>
            <a:ext cx="5349240" cy="210312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9525">
            <a:solidFill>
              <a:srgbClr val="E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2B214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77240" y="3017520"/>
            <a:ext cx="548640" cy="548640"/>
          </a:xfrm>
          <a:prstGeom prst="ellipse">
            <a:avLst/>
          </a:prstGeom>
          <a:solidFill>
            <a:srgbClr val="E3EFFB"/>
          </a:solidFill>
          <a:ln w="12700">
            <a:solidFill>
              <a:srgbClr val="E3EFFB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482" y="3121762"/>
            <a:ext cx="340157" cy="340157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463040" y="30175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D9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thinking test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777240" y="3703320"/>
            <a:ext cx="4892040" cy="512064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 w="12700">
            <a:solidFill>
              <a:srgbClr val="E3EFF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22960" y="3730752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" y="3817620"/>
            <a:ext cx="283464" cy="28346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417320" y="3703320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what a proverb means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777240" y="4306824"/>
            <a:ext cx="4892040" cy="512064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 w="12700">
            <a:solidFill>
              <a:srgbClr val="E3EFF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22960" y="4334256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" y="4421124"/>
            <a:ext cx="283464" cy="283464"/>
          </a:xfrm>
          <a:prstGeom prst="rect">
            <a:avLst/>
          </a:prstGeom>
        </p:spPr>
      </p:pic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8448" y="4398264"/>
            <a:ext cx="329184" cy="32918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737360" y="4306824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how two things are the same</a:t>
            </a:r>
            <a:endParaRPr lang="en-US" sz="1500" dirty="0"/>
          </a:p>
        </p:txBody>
      </p:sp>
      <p:sp>
        <p:nvSpPr>
          <p:cNvPr id="27" name="Shape 20"/>
          <p:cNvSpPr/>
          <p:nvPr/>
        </p:nvSpPr>
        <p:spPr>
          <a:xfrm>
            <a:off x="6291072" y="2880360"/>
            <a:ext cx="5349240" cy="210312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9525">
            <a:solidFill>
              <a:srgbClr val="E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2B2140">
                <a:alpha val="12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6519672" y="3017520"/>
            <a:ext cx="548640" cy="548640"/>
          </a:xfrm>
          <a:prstGeom prst="ellipse">
            <a:avLst/>
          </a:prstGeom>
          <a:solidFill>
            <a:srgbClr val="DDF6F3"/>
          </a:solidFill>
          <a:ln w="12700">
            <a:solidFill>
              <a:srgbClr val="DDF6F3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3914" y="3121762"/>
            <a:ext cx="340157" cy="340157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7205472" y="30175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thinking test</a:t>
            </a:r>
            <a:endParaRPr lang="en-US" sz="1800" dirty="0"/>
          </a:p>
        </p:txBody>
      </p:sp>
      <p:sp>
        <p:nvSpPr>
          <p:cNvPr id="31" name="Shape 23"/>
          <p:cNvSpPr/>
          <p:nvPr/>
        </p:nvSpPr>
        <p:spPr>
          <a:xfrm>
            <a:off x="6519672" y="3703320"/>
            <a:ext cx="4892040" cy="512064"/>
          </a:xfrm>
          <a:prstGeom prst="roundRect">
            <a:avLst>
              <a:gd name="adj" fmla="val 50000"/>
            </a:avLst>
          </a:prstGeom>
          <a:solidFill>
            <a:srgbClr val="DDF6F3"/>
          </a:solidFill>
          <a:ln w="12700">
            <a:solidFill>
              <a:srgbClr val="DDF6F3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6565392" y="3730752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2260" y="3817620"/>
            <a:ext cx="283464" cy="283464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7159752" y="3703320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for many uses of a paper clip</a:t>
            </a:r>
            <a:endParaRPr lang="en-US" sz="1500" dirty="0"/>
          </a:p>
        </p:txBody>
      </p:sp>
      <p:sp>
        <p:nvSpPr>
          <p:cNvPr id="35" name="Shape 26"/>
          <p:cNvSpPr/>
          <p:nvPr/>
        </p:nvSpPr>
        <p:spPr>
          <a:xfrm>
            <a:off x="6519672" y="4306824"/>
            <a:ext cx="4892040" cy="512064"/>
          </a:xfrm>
          <a:prstGeom prst="roundRect">
            <a:avLst>
              <a:gd name="adj" fmla="val 50000"/>
            </a:avLst>
          </a:prstGeom>
          <a:solidFill>
            <a:srgbClr val="DDF6F3"/>
          </a:solidFill>
          <a:ln w="12700">
            <a:solidFill>
              <a:srgbClr val="DDF6F3"/>
            </a:solidFill>
            <a:prstDash val="solid"/>
          </a:ln>
        </p:spPr>
      </p:sp>
      <p:sp>
        <p:nvSpPr>
          <p:cNvPr id="36" name="Shape 27"/>
          <p:cNvSpPr/>
          <p:nvPr/>
        </p:nvSpPr>
        <p:spPr>
          <a:xfrm>
            <a:off x="6565392" y="4334256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52260" y="4421124"/>
            <a:ext cx="283464" cy="283464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7159752" y="4306824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“Any other idea?”</a:t>
            </a:r>
            <a:endParaRPr lang="en-US" sz="1500" dirty="0"/>
          </a:p>
        </p:txBody>
      </p:sp>
      <p:sp>
        <p:nvSpPr>
          <p:cNvPr id="39" name="Text 29"/>
          <p:cNvSpPr txBox="1"/>
          <p:nvPr/>
        </p:nvSpPr>
        <p:spPr>
          <a:xfrm>
            <a:off x="548640" y="5166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6F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fair — think about:</a:t>
            </a:r>
            <a:endParaRPr lang="en-US" sz="1500" dirty="0"/>
          </a:p>
        </p:txBody>
      </p:sp>
      <p:sp>
        <p:nvSpPr>
          <p:cNvPr id="40" name="Shape 30"/>
          <p:cNvSpPr/>
          <p:nvPr/>
        </p:nvSpPr>
        <p:spPr>
          <a:xfrm>
            <a:off x="548640" y="5577840"/>
            <a:ext cx="1737360" cy="54864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5660136"/>
            <a:ext cx="384048" cy="384048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1143000" y="5577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</a:t>
            </a:r>
            <a:endParaRPr lang="en-US" sz="1300" dirty="0"/>
          </a:p>
        </p:txBody>
      </p:sp>
      <p:sp>
        <p:nvSpPr>
          <p:cNvPr id="43" name="Shape 32"/>
          <p:cNvSpPr/>
          <p:nvPr/>
        </p:nvSpPr>
        <p:spPr>
          <a:xfrm>
            <a:off x="2423160" y="5577840"/>
            <a:ext cx="1737360" cy="54864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60320" y="5660136"/>
            <a:ext cx="384048" cy="384048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3017520" y="5577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1300" dirty="0"/>
          </a:p>
        </p:txBody>
      </p:sp>
      <p:sp>
        <p:nvSpPr>
          <p:cNvPr id="46" name="Shape 34"/>
          <p:cNvSpPr/>
          <p:nvPr/>
        </p:nvSpPr>
        <p:spPr>
          <a:xfrm>
            <a:off x="4297680" y="5577840"/>
            <a:ext cx="1737360" cy="54864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pic>
        <p:nvPicPr>
          <p:cNvPr id="4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34840" y="5660136"/>
            <a:ext cx="384048" cy="384048"/>
          </a:xfrm>
          <a:prstGeom prst="rect">
            <a:avLst/>
          </a:prstGeom>
        </p:spPr>
      </p:pic>
      <p:sp>
        <p:nvSpPr>
          <p:cNvPr id="48" name="Text 35"/>
          <p:cNvSpPr txBox="1"/>
          <p:nvPr/>
        </p:nvSpPr>
        <p:spPr>
          <a:xfrm>
            <a:off x="4892040" y="5577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Culture</a:t>
            </a:r>
            <a:endParaRPr lang="en-US" sz="1300" dirty="0"/>
          </a:p>
        </p:txBody>
      </p:sp>
      <p:sp>
        <p:nvSpPr>
          <p:cNvPr id="49" name="Shape 36"/>
          <p:cNvSpPr/>
          <p:nvPr/>
        </p:nvSpPr>
        <p:spPr>
          <a:xfrm>
            <a:off x="6172200" y="5577840"/>
            <a:ext cx="1737360" cy="54864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pic>
        <p:nvPicPr>
          <p:cNvPr id="5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09360" y="5660136"/>
            <a:ext cx="384048" cy="384048"/>
          </a:xfrm>
          <a:prstGeom prst="rect">
            <a:avLst/>
          </a:prstGeom>
        </p:spPr>
      </p:pic>
      <p:sp>
        <p:nvSpPr>
          <p:cNvPr id="51" name="Text 37"/>
          <p:cNvSpPr txBox="1"/>
          <p:nvPr/>
        </p:nvSpPr>
        <p:spPr>
          <a:xfrm>
            <a:off x="6766560" y="5577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300" dirty="0"/>
          </a:p>
        </p:txBody>
      </p:sp>
      <p:sp>
        <p:nvSpPr>
          <p:cNvPr id="52" name="Shape 38"/>
          <p:cNvSpPr/>
          <p:nvPr/>
        </p:nvSpPr>
        <p:spPr>
          <a:xfrm>
            <a:off x="8046720" y="5577840"/>
            <a:ext cx="1737360" cy="54864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pic>
        <p:nvPicPr>
          <p:cNvPr id="5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83880" y="5660136"/>
            <a:ext cx="384048" cy="384048"/>
          </a:xfrm>
          <a:prstGeom prst="rect">
            <a:avLst/>
          </a:prstGeom>
        </p:spPr>
      </p:pic>
      <p:sp>
        <p:nvSpPr>
          <p:cNvPr id="54" name="Text 39"/>
          <p:cNvSpPr txBox="1"/>
          <p:nvPr/>
        </p:nvSpPr>
        <p:spPr>
          <a:xfrm>
            <a:off x="8641080" y="5577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Mood</a:t>
            </a:r>
            <a:endParaRPr lang="en-US" sz="1300" dirty="0"/>
          </a:p>
        </p:txBody>
      </p:sp>
      <p:sp>
        <p:nvSpPr>
          <p:cNvPr id="55" name="Shape 40"/>
          <p:cNvSpPr/>
          <p:nvPr/>
        </p:nvSpPr>
        <p:spPr>
          <a:xfrm>
            <a:off x="9921240" y="5577840"/>
            <a:ext cx="1737360" cy="54864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pic>
        <p:nvPicPr>
          <p:cNvPr id="5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58400" y="5660136"/>
            <a:ext cx="384048" cy="384048"/>
          </a:xfrm>
          <a:prstGeom prst="rect">
            <a:avLst/>
          </a:prstGeom>
        </p:spPr>
      </p:pic>
      <p:sp>
        <p:nvSpPr>
          <p:cNvPr id="57" name="Text 41"/>
          <p:cNvSpPr txBox="1"/>
          <p:nvPr/>
        </p:nvSpPr>
        <p:spPr>
          <a:xfrm>
            <a:off x="10515600" y="5577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checks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-1005840"/>
            <a:ext cx="2651760" cy="2651760"/>
          </a:xfrm>
          <a:prstGeom prst="ellipse">
            <a:avLst/>
          </a:prstGeom>
          <a:solidFill>
            <a:srgbClr val="E3EFFB"/>
          </a:solidFill>
          <a:ln w="12700">
            <a:solidFill>
              <a:srgbClr val="E3EF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87000" y="868680"/>
            <a:ext cx="411480" cy="411480"/>
          </a:xfrm>
          <a:prstGeom prst="ellipse">
            <a:avLst/>
          </a:prstGeom>
          <a:solidFill>
            <a:srgbClr val="4D9DE0"/>
          </a:solidFill>
          <a:ln w="12700">
            <a:solidFill>
              <a:srgbClr val="4D9D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11480"/>
            <a:ext cx="1993392" cy="36576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 w="12700">
            <a:solidFill>
              <a:srgbClr val="E3EF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41148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4D9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6868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Checking abstract thinking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0876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Short, natural questions. Does the patient go past the literal words?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&amp; Creative Thinking  ·  Psychiatry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18311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011680"/>
            <a:ext cx="7086600" cy="420624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9525">
            <a:solidFill>
              <a:srgbClr val="E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2B214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313432"/>
            <a:ext cx="658368" cy="658368"/>
          </a:xfrm>
          <a:prstGeom prst="ellipse">
            <a:avLst/>
          </a:prstGeom>
          <a:solidFill>
            <a:srgbClr val="E3EFFB"/>
          </a:solidFill>
          <a:ln w="12700">
            <a:solidFill>
              <a:srgbClr val="E3EFFB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6610" y="2438522"/>
            <a:ext cx="408188" cy="40818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417320" y="2240280"/>
            <a:ext cx="5394960" cy="804672"/>
          </a:xfrm>
          <a:prstGeom prst="roundRect">
            <a:avLst>
              <a:gd name="adj" fmla="val 22727"/>
            </a:avLst>
          </a:prstGeom>
          <a:solidFill>
            <a:srgbClr val="E3EFFB"/>
          </a:solidFill>
          <a:ln w="12700">
            <a:solidFill>
              <a:srgbClr val="E3EFF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618488" y="23134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D9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618488" y="254203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 does ‘Don’t judge a book by its cover’ mean?”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355080" y="3291840"/>
            <a:ext cx="658368" cy="658368"/>
          </a:xfrm>
          <a:prstGeom prst="ellipse">
            <a:avLst/>
          </a:prstGeom>
          <a:solidFill>
            <a:srgbClr val="DDF6F3"/>
          </a:solidFill>
          <a:ln w="12700">
            <a:solidFill>
              <a:srgbClr val="DDF6F3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0170" y="3416930"/>
            <a:ext cx="408188" cy="40818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777240" y="3218688"/>
            <a:ext cx="5394960" cy="804672"/>
          </a:xfrm>
          <a:prstGeom prst="roundRect">
            <a:avLst>
              <a:gd name="adj" fmla="val 22727"/>
            </a:avLst>
          </a:prstGeom>
          <a:solidFill>
            <a:srgbClr val="DDF6F3"/>
          </a:solidFill>
          <a:ln w="12700">
            <a:solidFill>
              <a:srgbClr val="DDF6F3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978408" y="3291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9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978408" y="352044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“Don’t judge a person only by how they look.”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731520" y="4270248"/>
            <a:ext cx="658368" cy="658368"/>
          </a:xfrm>
          <a:prstGeom prst="ellipse">
            <a:avLst/>
          </a:prstGeom>
          <a:solidFill>
            <a:srgbClr val="E3EFFB"/>
          </a:solidFill>
          <a:ln w="12700">
            <a:solidFill>
              <a:srgbClr val="E3EFFB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610" y="4395338"/>
            <a:ext cx="408188" cy="408188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1417320" y="4197096"/>
            <a:ext cx="5394960" cy="804672"/>
          </a:xfrm>
          <a:prstGeom prst="roundRect">
            <a:avLst>
              <a:gd name="adj" fmla="val 22727"/>
            </a:avLst>
          </a:prstGeom>
          <a:solidFill>
            <a:srgbClr val="E3EFFB"/>
          </a:solidFill>
          <a:ln w="12700">
            <a:solidFill>
              <a:srgbClr val="E3EFFB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1618488" y="42702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D9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1618488" y="4498848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“How are a dog and a cat the same?”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6355080" y="5248656"/>
            <a:ext cx="658368" cy="658368"/>
          </a:xfrm>
          <a:prstGeom prst="ellipse">
            <a:avLst/>
          </a:prstGeom>
          <a:solidFill>
            <a:srgbClr val="DDF6F3"/>
          </a:solidFill>
          <a:ln w="12700">
            <a:solidFill>
              <a:srgbClr val="DDF6F3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170" y="5373746"/>
            <a:ext cx="408188" cy="408188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777240" y="5175504"/>
            <a:ext cx="5394960" cy="804672"/>
          </a:xfrm>
          <a:prstGeom prst="roundRect">
            <a:avLst>
              <a:gd name="adj" fmla="val 22727"/>
            </a:avLst>
          </a:prstGeom>
          <a:solidFill>
            <a:srgbClr val="DDF6F3"/>
          </a:solidFill>
          <a:ln w="12700">
            <a:solidFill>
              <a:srgbClr val="DDF6F3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978408" y="524865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9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</a:t>
            </a:r>
            <a:endParaRPr lang="en-US" sz="1100" dirty="0"/>
          </a:p>
        </p:txBody>
      </p:sp>
      <p:sp>
        <p:nvSpPr>
          <p:cNvPr id="30" name="Text 24"/>
          <p:cNvSpPr txBox="1"/>
          <p:nvPr/>
        </p:nvSpPr>
        <p:spPr>
          <a:xfrm>
            <a:off x="978408" y="5477256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“Both are animals and can be pets.”</a:t>
            </a:r>
            <a:endParaRPr lang="en-US" sz="1500" dirty="0"/>
          </a:p>
        </p:txBody>
      </p:sp>
      <p:sp>
        <p:nvSpPr>
          <p:cNvPr id="31" name="Shape 25"/>
          <p:cNvSpPr/>
          <p:nvPr/>
        </p:nvSpPr>
        <p:spPr>
          <a:xfrm>
            <a:off x="7909560" y="2011680"/>
            <a:ext cx="3730752" cy="4206240"/>
          </a:xfrm>
          <a:prstGeom prst="roundRect">
            <a:avLst>
              <a:gd name="adj" fmla="val 4412"/>
            </a:avLst>
          </a:prstGeom>
          <a:solidFill>
            <a:srgbClr val="DDF6F3"/>
          </a:solidFill>
          <a:ln w="15875">
            <a:solidFill>
              <a:srgbClr val="1F9E92"/>
            </a:solidFill>
            <a:prstDash val="solid"/>
          </a:ln>
          <a:effectLst>
            <a:outerShdw sx="100000" sy="100000" kx="0" ky="0" algn="bl" rotWithShape="0" blurRad="127000" dist="38100" dir="5400000">
              <a:srgbClr val="2B2140">
                <a:alpha val="12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9180576" y="2240280"/>
            <a:ext cx="1188720" cy="11887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6433" y="2466137"/>
            <a:ext cx="737006" cy="737006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7909560" y="3566160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1F9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8183880" y="3840480"/>
            <a:ext cx="3182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B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Good! Abstract thinking is working</a:t>
            </a:r>
            <a:endParaRPr lang="en-US" sz="2100" dirty="0"/>
          </a:p>
        </p:txBody>
      </p:sp>
      <p:sp>
        <p:nvSpPr>
          <p:cNvPr id="36" name="Text 29"/>
          <p:cNvSpPr txBox="1"/>
          <p:nvPr/>
        </p:nvSpPr>
        <p:spPr>
          <a:xfrm>
            <a:off x="8229600" y="4663440"/>
            <a:ext cx="3090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patient finds the hidden meaning and the bigger group (animals), not just small details.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-1005840"/>
            <a:ext cx="2651760" cy="2651760"/>
          </a:xfrm>
          <a:prstGeom prst="ellipse">
            <a:avLst/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87000" y="868680"/>
            <a:ext cx="411480" cy="411480"/>
          </a:xfrm>
          <a:prstGeom prst="ellipse">
            <a:avLst/>
          </a:prstGeom>
          <a:solidFill>
            <a:srgbClr val="FF6F61"/>
          </a:solidFill>
          <a:ln w="12700">
            <a:solidFill>
              <a:srgbClr val="FF6F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11480"/>
            <a:ext cx="1993392" cy="36576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41148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6F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 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6868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Checking creative thinking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0876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for many ideas and the ability to find new ones.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&amp; Creative Thinking  ·  Psychiatry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18311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011680"/>
            <a:ext cx="7086600" cy="420624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9525">
            <a:solidFill>
              <a:srgbClr val="E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2B214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313432"/>
            <a:ext cx="658368" cy="658368"/>
          </a:xfrm>
          <a:prstGeom prst="ellipse">
            <a:avLst/>
          </a:prstGeom>
          <a:solidFill>
            <a:srgbClr val="E3EFFB"/>
          </a:solidFill>
          <a:ln w="12700">
            <a:solidFill>
              <a:srgbClr val="E3EFFB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6610" y="2438522"/>
            <a:ext cx="408188" cy="40818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417320" y="2240280"/>
            <a:ext cx="5394960" cy="804672"/>
          </a:xfrm>
          <a:prstGeom prst="roundRect">
            <a:avLst>
              <a:gd name="adj" fmla="val 22727"/>
            </a:avLst>
          </a:prstGeom>
          <a:solidFill>
            <a:srgbClr val="E3EFFB"/>
          </a:solidFill>
          <a:ln w="12700">
            <a:solidFill>
              <a:srgbClr val="E3EFF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618488" y="23134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D9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618488" y="254203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“Imagine I give you a paper clip. Tell me as many uses as you can.”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355080" y="3291840"/>
            <a:ext cx="658368" cy="658368"/>
          </a:xfrm>
          <a:prstGeom prst="ellipse">
            <a:avLst/>
          </a:prstGeom>
          <a:solidFill>
            <a:srgbClr val="DDF6F3"/>
          </a:solidFill>
          <a:ln w="12700">
            <a:solidFill>
              <a:srgbClr val="DDF6F3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0170" y="3416930"/>
            <a:ext cx="408188" cy="40818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777240" y="3218688"/>
            <a:ext cx="5394960" cy="804672"/>
          </a:xfrm>
          <a:prstGeom prst="roundRect">
            <a:avLst>
              <a:gd name="adj" fmla="val 22727"/>
            </a:avLst>
          </a:prstGeom>
          <a:solidFill>
            <a:srgbClr val="DDF6F3"/>
          </a:solidFill>
          <a:ln w="12700">
            <a:solidFill>
              <a:srgbClr val="DDF6F3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978408" y="3291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9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978408" y="352044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“To hold papers, as a bookmark, to tidy wires, or for crafts.”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731520" y="4270248"/>
            <a:ext cx="658368" cy="658368"/>
          </a:xfrm>
          <a:prstGeom prst="ellipse">
            <a:avLst/>
          </a:prstGeom>
          <a:solidFill>
            <a:srgbClr val="E3EFFB"/>
          </a:solidFill>
          <a:ln w="12700">
            <a:solidFill>
              <a:srgbClr val="E3EFFB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610" y="4395338"/>
            <a:ext cx="408188" cy="408188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1417320" y="4197096"/>
            <a:ext cx="5394960" cy="804672"/>
          </a:xfrm>
          <a:prstGeom prst="roundRect">
            <a:avLst>
              <a:gd name="adj" fmla="val 22727"/>
            </a:avLst>
          </a:prstGeom>
          <a:solidFill>
            <a:srgbClr val="E3EFFB"/>
          </a:solidFill>
          <a:ln w="12700">
            <a:solidFill>
              <a:srgbClr val="E3EFFB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1618488" y="42702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D9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1618488" y="4498848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“Can you think of another unusual use?”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6355080" y="5248656"/>
            <a:ext cx="658368" cy="658368"/>
          </a:xfrm>
          <a:prstGeom prst="ellipse">
            <a:avLst/>
          </a:prstGeom>
          <a:solidFill>
            <a:srgbClr val="DDF6F3"/>
          </a:solidFill>
          <a:ln w="12700">
            <a:solidFill>
              <a:srgbClr val="DDF6F3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170" y="5373746"/>
            <a:ext cx="408188" cy="408188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777240" y="5175504"/>
            <a:ext cx="5394960" cy="804672"/>
          </a:xfrm>
          <a:prstGeom prst="roundRect">
            <a:avLst>
              <a:gd name="adj" fmla="val 22727"/>
            </a:avLst>
          </a:prstGeom>
          <a:solidFill>
            <a:srgbClr val="DDF6F3"/>
          </a:solidFill>
          <a:ln w="12700">
            <a:solidFill>
              <a:srgbClr val="DDF6F3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978408" y="524865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9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</a:t>
            </a:r>
            <a:endParaRPr lang="en-US" sz="1100" dirty="0"/>
          </a:p>
        </p:txBody>
      </p:sp>
      <p:sp>
        <p:nvSpPr>
          <p:cNvPr id="30" name="Text 24"/>
          <p:cNvSpPr txBox="1"/>
          <p:nvPr/>
        </p:nvSpPr>
        <p:spPr>
          <a:xfrm>
            <a:off x="978408" y="5477256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could use it as a zipper pull!”</a:t>
            </a:r>
            <a:endParaRPr lang="en-US" sz="1500" dirty="0"/>
          </a:p>
        </p:txBody>
      </p:sp>
      <p:sp>
        <p:nvSpPr>
          <p:cNvPr id="31" name="Shape 25"/>
          <p:cNvSpPr/>
          <p:nvPr/>
        </p:nvSpPr>
        <p:spPr>
          <a:xfrm>
            <a:off x="7909560" y="2011680"/>
            <a:ext cx="3730752" cy="4206240"/>
          </a:xfrm>
          <a:prstGeom prst="roundRect">
            <a:avLst>
              <a:gd name="adj" fmla="val 4412"/>
            </a:avLst>
          </a:prstGeom>
          <a:solidFill>
            <a:srgbClr val="FFF4D6"/>
          </a:solidFill>
          <a:ln w="15875">
            <a:solidFill>
              <a:srgbClr val="D98E00"/>
            </a:solidFill>
            <a:prstDash val="solid"/>
          </a:ln>
          <a:effectLst>
            <a:outerShdw sx="100000" sy="100000" kx="0" ky="0" algn="bl" rotWithShape="0" blurRad="127000" dist="38100" dir="5400000">
              <a:srgbClr val="2B2140">
                <a:alpha val="12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9180576" y="2240280"/>
            <a:ext cx="1188720" cy="11887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6433" y="2466137"/>
            <a:ext cx="737006" cy="737006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7909560" y="3566160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D9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8183880" y="3840480"/>
            <a:ext cx="3182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B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Good! Many different ideas</a:t>
            </a:r>
            <a:endParaRPr lang="en-US" sz="2100" dirty="0"/>
          </a:p>
        </p:txBody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0" y="4718304"/>
            <a:ext cx="256032" cy="256032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8732520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than one idea</a:t>
            </a:r>
            <a:endParaRPr lang="en-US" sz="1400" dirty="0"/>
          </a:p>
        </p:txBody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6760" y="5175504"/>
            <a:ext cx="256032" cy="256032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8732520" y="5120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add new ideas</a:t>
            </a:r>
            <a:endParaRPr lang="en-US" sz="1400" dirty="0"/>
          </a:p>
        </p:txBody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760" y="5632704"/>
            <a:ext cx="256032" cy="256032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8732520" y="5577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Clever answers not needed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B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-1005840"/>
            <a:ext cx="2651760" cy="2651760"/>
          </a:xfrm>
          <a:prstGeom prst="ellipse">
            <a:avLst/>
          </a:prstGeom>
          <a:solidFill>
            <a:srgbClr val="4E2C78"/>
          </a:solidFill>
          <a:ln w="12700">
            <a:solidFill>
              <a:srgbClr val="4E2C7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87000" y="868680"/>
            <a:ext cx="411480" cy="41148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11480"/>
            <a:ext cx="1444752" cy="365760"/>
          </a:xfrm>
          <a:prstGeom prst="roundRect">
            <a:avLst>
              <a:gd name="adj" fmla="val 50000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41148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3B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TAKE-HOME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6868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easy steps to remember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0876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C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them for study and with patients. Example: it is raining.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9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&amp; Creative Thinking  ·  Psychiatry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18311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057400"/>
            <a:ext cx="2514600" cy="2834640"/>
          </a:xfrm>
          <a:prstGeom prst="roundRect">
            <a:avLst>
              <a:gd name="adj" fmla="val 65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48740" y="2240280"/>
            <a:ext cx="914400" cy="914400"/>
          </a:xfrm>
          <a:prstGeom prst="ellipse">
            <a:avLst/>
          </a:prstGeom>
          <a:solidFill>
            <a:srgbClr val="4D9DE0"/>
          </a:solidFill>
          <a:ln w="12700">
            <a:solidFill>
              <a:srgbClr val="4D9DE0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476" y="2414016"/>
            <a:ext cx="566928" cy="566928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85800" y="3246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SEE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363016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I see?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31520" y="4114800"/>
            <a:ext cx="2148840" cy="548640"/>
          </a:xfrm>
          <a:prstGeom prst="roundRect">
            <a:avLst>
              <a:gd name="adj" fmla="val 50000"/>
            </a:avLst>
          </a:prstGeom>
          <a:solidFill>
            <a:srgbClr val="F1ECF8"/>
          </a:solidFill>
          <a:ln w="12700">
            <a:solidFill>
              <a:srgbClr val="F1ECF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41148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3B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raining.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3063240" y="315468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3392424" y="2057400"/>
            <a:ext cx="2514600" cy="2834640"/>
          </a:xfrm>
          <a:prstGeom prst="roundRect">
            <a:avLst>
              <a:gd name="adj" fmla="val 65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192524" y="2240280"/>
            <a:ext cx="914400" cy="91440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6260" y="2414016"/>
            <a:ext cx="566928" cy="566928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3529584" y="3246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MEANING</a:t>
            </a:r>
            <a:endParaRPr lang="en-US" sz="1800" dirty="0"/>
          </a:p>
        </p:txBody>
      </p:sp>
      <p:sp>
        <p:nvSpPr>
          <p:cNvPr id="22" name="Text 18"/>
          <p:cNvSpPr txBox="1"/>
          <p:nvPr/>
        </p:nvSpPr>
        <p:spPr>
          <a:xfrm>
            <a:off x="3529584" y="363016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it mean?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3575304" y="4114800"/>
            <a:ext cx="2148840" cy="548640"/>
          </a:xfrm>
          <a:prstGeom prst="roundRect">
            <a:avLst>
              <a:gd name="adj" fmla="val 50000"/>
            </a:avLst>
          </a:prstGeom>
          <a:solidFill>
            <a:srgbClr val="F1ECF8"/>
          </a:solidFill>
          <a:ln w="12700">
            <a:solidFill>
              <a:srgbClr val="F1ECF8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3621024" y="41148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3B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will get wet outside.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5907024" y="315468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6" name="Shape 22"/>
          <p:cNvSpPr/>
          <p:nvPr/>
        </p:nvSpPr>
        <p:spPr>
          <a:xfrm>
            <a:off x="6236208" y="2057400"/>
            <a:ext cx="2514600" cy="2834640"/>
          </a:xfrm>
          <a:prstGeom prst="roundRect">
            <a:avLst>
              <a:gd name="adj" fmla="val 65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036308" y="2240280"/>
            <a:ext cx="914400" cy="914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0044" y="2414016"/>
            <a:ext cx="566928" cy="566928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6373368" y="3246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MORE IDEAS</a:t>
            </a:r>
            <a:endParaRPr lang="en-US" sz="1800" dirty="0"/>
          </a:p>
        </p:txBody>
      </p:sp>
      <p:sp>
        <p:nvSpPr>
          <p:cNvPr id="30" name="Text 25"/>
          <p:cNvSpPr txBox="1"/>
          <p:nvPr/>
        </p:nvSpPr>
        <p:spPr>
          <a:xfrm>
            <a:off x="6373368" y="363016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else can I do?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6419088" y="4114800"/>
            <a:ext cx="2148840" cy="548640"/>
          </a:xfrm>
          <a:prstGeom prst="roundRect">
            <a:avLst>
              <a:gd name="adj" fmla="val 50000"/>
            </a:avLst>
          </a:prstGeom>
          <a:solidFill>
            <a:srgbClr val="F1ECF8"/>
          </a:solidFill>
          <a:ln w="12700">
            <a:solidFill>
              <a:srgbClr val="F1ECF8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6464808" y="41148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3B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Umbrella, raincoat, or wait.</a:t>
            </a:r>
            <a:endParaRPr lang="en-US" sz="1300" dirty="0"/>
          </a:p>
        </p:txBody>
      </p:sp>
      <p:sp>
        <p:nvSpPr>
          <p:cNvPr id="33" name="Text 28"/>
          <p:cNvSpPr txBox="1"/>
          <p:nvPr/>
        </p:nvSpPr>
        <p:spPr>
          <a:xfrm>
            <a:off x="8750808" y="315468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34" name="Shape 29"/>
          <p:cNvSpPr/>
          <p:nvPr/>
        </p:nvSpPr>
        <p:spPr>
          <a:xfrm>
            <a:off x="9079992" y="2057400"/>
            <a:ext cx="2514600" cy="2834640"/>
          </a:xfrm>
          <a:prstGeom prst="roundRect">
            <a:avLst>
              <a:gd name="adj" fmla="val 65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9880092" y="2240280"/>
            <a:ext cx="914400" cy="914400"/>
          </a:xfrm>
          <a:prstGeom prst="ellipse">
            <a:avLst/>
          </a:prstGeom>
          <a:solidFill>
            <a:srgbClr val="FF6F61"/>
          </a:solidFill>
          <a:ln w="12700">
            <a:solidFill>
              <a:srgbClr val="FF6F61"/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3828" y="2414016"/>
            <a:ext cx="566928" cy="566928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9217152" y="3246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USE IT</a:t>
            </a:r>
            <a:endParaRPr lang="en-US" sz="1800" dirty="0"/>
          </a:p>
        </p:txBody>
      </p:sp>
      <p:sp>
        <p:nvSpPr>
          <p:cNvPr id="38" name="Text 32"/>
          <p:cNvSpPr txBox="1"/>
          <p:nvPr/>
        </p:nvSpPr>
        <p:spPr>
          <a:xfrm>
            <a:off x="9217152" y="363016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will I do now?</a:t>
            </a:r>
            <a:endParaRPr lang="en-US" sz="1400" dirty="0"/>
          </a:p>
        </p:txBody>
      </p:sp>
      <p:sp>
        <p:nvSpPr>
          <p:cNvPr id="39" name="Shape 33"/>
          <p:cNvSpPr/>
          <p:nvPr/>
        </p:nvSpPr>
        <p:spPr>
          <a:xfrm>
            <a:off x="9262872" y="4114800"/>
            <a:ext cx="2148840" cy="548640"/>
          </a:xfrm>
          <a:prstGeom prst="roundRect">
            <a:avLst>
              <a:gd name="adj" fmla="val 50000"/>
            </a:avLst>
          </a:prstGeom>
          <a:solidFill>
            <a:srgbClr val="F1ECF8"/>
          </a:solidFill>
          <a:ln w="12700">
            <a:solidFill>
              <a:srgbClr val="F1ECF8"/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9308592" y="41148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3B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the umbrella!</a:t>
            </a:r>
            <a:endParaRPr lang="en-US" sz="1300" dirty="0"/>
          </a:p>
        </p:txBody>
      </p:sp>
      <p:sp>
        <p:nvSpPr>
          <p:cNvPr id="41" name="Shape 35"/>
          <p:cNvSpPr/>
          <p:nvPr/>
        </p:nvSpPr>
        <p:spPr>
          <a:xfrm>
            <a:off x="548640" y="5138928"/>
            <a:ext cx="502920" cy="50292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195" y="5234483"/>
            <a:ext cx="311810" cy="311810"/>
          </a:xfrm>
          <a:prstGeom prst="rect">
            <a:avLst/>
          </a:prstGeom>
        </p:spPr>
      </p:pic>
      <p:sp>
        <p:nvSpPr>
          <p:cNvPr id="43" name="Text 36"/>
          <p:cNvSpPr txBox="1"/>
          <p:nvPr/>
        </p:nvSpPr>
        <p:spPr>
          <a:xfrm>
            <a:off x="1234440" y="513892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D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answer is not a diagnosis. Also think about school, culture, language, attention, and mood.</a:t>
            </a:r>
            <a:endParaRPr lang="en-US" sz="1500" dirty="0"/>
          </a:p>
        </p:txBody>
      </p:sp>
      <p:sp>
        <p:nvSpPr>
          <p:cNvPr id="44" name="Text 37"/>
          <p:cNvSpPr txBox="1"/>
          <p:nvPr/>
        </p:nvSpPr>
        <p:spPr>
          <a:xfrm>
            <a:off x="548640" y="57607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message: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→ find the meaning → find more ideas → use it.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B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822960"/>
            <a:ext cx="4754880" cy="4754880"/>
          </a:xfrm>
          <a:prstGeom prst="ellipse">
            <a:avLst/>
          </a:prstGeom>
          <a:solidFill>
            <a:srgbClr val="4E2C78"/>
          </a:solidFill>
          <a:ln w="12700">
            <a:solidFill>
              <a:srgbClr val="4E2C7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38560" y="5394960"/>
            <a:ext cx="1463040" cy="1463040"/>
          </a:xfrm>
          <a:prstGeom prst="ellipse">
            <a:avLst/>
          </a:prstGeom>
          <a:solidFill>
            <a:srgbClr val="5B3A8A"/>
          </a:solidFill>
          <a:ln w="12700">
            <a:solidFill>
              <a:srgbClr val="5B3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5760720"/>
            <a:ext cx="320040" cy="320040"/>
          </a:xfrm>
          <a:prstGeom prst="ellipse">
            <a:avLst/>
          </a:prstGeom>
          <a:solidFill>
            <a:srgbClr val="FF6F61"/>
          </a:solidFill>
          <a:ln w="12700">
            <a:solidFill>
              <a:srgbClr val="FF6F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0" y="457200"/>
            <a:ext cx="228600" cy="22860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0" y="640080"/>
            <a:ext cx="182880" cy="18288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0" y="1828800"/>
            <a:ext cx="2743200" cy="2743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6568" y="2350008"/>
            <a:ext cx="1700784" cy="170078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972800" y="1097280"/>
            <a:ext cx="1051560" cy="105156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2596" y="1297076"/>
            <a:ext cx="651967" cy="651967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635240" y="1143000"/>
            <a:ext cx="960120" cy="96012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7663" y="1325423"/>
            <a:ext cx="595274" cy="59527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818120" y="4526280"/>
            <a:ext cx="960120" cy="960120"/>
          </a:xfrm>
          <a:prstGeom prst="ellipse">
            <a:avLst/>
          </a:prstGeom>
          <a:solidFill>
            <a:srgbClr val="FF6F61"/>
          </a:solidFill>
          <a:ln w="12700">
            <a:solidFill>
              <a:srgbClr val="FF6F61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0543" y="4708703"/>
            <a:ext cx="595274" cy="595274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10835640" y="4251960"/>
            <a:ext cx="914400" cy="914400"/>
          </a:xfrm>
          <a:prstGeom prst="ellipse">
            <a:avLst/>
          </a:prstGeom>
          <a:solidFill>
            <a:srgbClr val="4D9DE0"/>
          </a:solidFill>
          <a:ln w="12700">
            <a:solidFill>
              <a:srgbClr val="4D9DE0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9376" y="4425696"/>
            <a:ext cx="566928" cy="566928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731520" y="1463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PSYCHIATRY</a:t>
            </a:r>
            <a:endParaRPr lang="en-US" sz="1400" dirty="0"/>
          </a:p>
        </p:txBody>
      </p:sp>
      <p:sp>
        <p:nvSpPr>
          <p:cNvPr id="18" name="Text 11"/>
          <p:cNvSpPr txBox="1"/>
          <p:nvPr/>
        </p:nvSpPr>
        <p:spPr>
          <a:xfrm>
            <a:off x="731520" y="192024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6000" dirty="0"/>
          </a:p>
        </p:txBody>
      </p:sp>
      <p:sp>
        <p:nvSpPr>
          <p:cNvPr id="19" name="Text 12"/>
          <p:cNvSpPr txBox="1"/>
          <p:nvPr/>
        </p:nvSpPr>
        <p:spPr>
          <a:xfrm>
            <a:off x="731520" y="32461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E4D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questions?</a:t>
            </a:r>
            <a:endParaRPr lang="en-US" sz="2400" dirty="0"/>
          </a:p>
        </p:txBody>
      </p:sp>
      <p:sp>
        <p:nvSpPr>
          <p:cNvPr id="20" name="Shape 13"/>
          <p:cNvSpPr/>
          <p:nvPr/>
        </p:nvSpPr>
        <p:spPr>
          <a:xfrm>
            <a:off x="731520" y="4114800"/>
            <a:ext cx="2304288" cy="457200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731520" y="411480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meaning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3218688" y="411480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3218688" y="4114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more ideas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5596128" y="4114800"/>
            <a:ext cx="2084832" cy="457200"/>
          </a:xfrm>
          <a:prstGeom prst="roundRect">
            <a:avLst>
              <a:gd name="adj" fmla="val 50000"/>
            </a:avLst>
          </a:prstGeom>
          <a:solidFill>
            <a:srgbClr val="FF6F61"/>
          </a:solidFill>
          <a:ln w="12700">
            <a:solidFill>
              <a:srgbClr val="FF6F61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5596128" y="411480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Practise daily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731520" y="61722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9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Images: Twemoji (CC-BY 4.0)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Abstract &amp; Creative Thinking</dc:title>
  <dc:subject>PptxGenJS Presentation</dc:subject>
  <dc:creator>PptxGenJS</dc:creator>
  <cp:lastModifiedBy>PptxGenJS</cp:lastModifiedBy>
  <cp:revision>1</cp:revision>
  <dcterms:created xsi:type="dcterms:W3CDTF">2026-09-24T19:13:02Z</dcterms:created>
  <dcterms:modified xsi:type="dcterms:W3CDTF">2026-09-24T19:13:02Z</dcterms:modified>
</cp:coreProperties>
</file>
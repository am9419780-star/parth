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two thinking skills, how to train them, and how to assess them in the Mental Status Examination.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thinking = finding the pattern. Creative thinking = expanding the possibilities.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quick exercises. The daily target keeps it realistic: 10 minutes a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depression example step by step to show the ladder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paper-clip demo here: 60 seconds, count how many uses the class finds.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thinking: proverb + similarity. Creative thinking: alternative-use task. Always interpret in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answers generalize beyond the literal: proverb meaning and a category-level similarity.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for quantity and flexibility of ideas, not cleverness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four-step cycle and the reminder that one response is never a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417320"/>
            <a:ext cx="3200400" cy="3200400"/>
          </a:xfrm>
          <a:prstGeom prst="ellipse">
            <a:avLst/>
          </a:prstGeom>
          <a:solidFill>
            <a:srgbClr val="2A6FB0"/>
          </a:solidFill>
          <a:ln w="19050">
            <a:solidFill>
              <a:srgbClr val="6FB3D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006840" y="2011680"/>
            <a:ext cx="2011680" cy="201168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251460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927080" y="118872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0" y="1405890"/>
            <a:ext cx="434340" cy="4343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3840480"/>
            <a:ext cx="868680" cy="868680"/>
          </a:xfrm>
          <a:prstGeom prst="ellipse">
            <a:avLst/>
          </a:prstGeom>
          <a:solidFill>
            <a:srgbClr val="7CC6D6"/>
          </a:solidFill>
          <a:ln w="12700">
            <a:solidFill>
              <a:srgbClr val="7CC6D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610" y="4057650"/>
            <a:ext cx="434340" cy="4343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881360" y="4069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4251960"/>
            <a:ext cx="36576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229600" y="411480"/>
            <a:ext cx="3657600" cy="3657600"/>
          </a:xfrm>
          <a:prstGeom prst="arc">
            <a:avLst>
              <a:gd name="adj1" fmla="val 18000000"/>
              <a:gd name="adj2" fmla="val 1800000"/>
            </a:avLst>
          </a:prstGeom>
          <a:ln w="38100">
            <a:solidFill>
              <a:srgbClr val="F4A261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8183880" y="2194560"/>
            <a:ext cx="3657600" cy="3657600"/>
          </a:xfrm>
          <a:prstGeom prst="arc">
            <a:avLst>
              <a:gd name="adj1" fmla="val 6000000"/>
              <a:gd name="adj2" fmla="val 10800000"/>
            </a:avLst>
          </a:prstGeom>
          <a:ln w="38100">
            <a:solidFill>
              <a:srgbClr val="7CC6D6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863840" y="525780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 •  Possibility  •  Practice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8580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PSYCHIATRY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685800" y="12344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Thinking</a:t>
            </a:r>
            <a:endParaRPr lang="en-US" sz="50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2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crisp guide to daily practice, clinical assessment, and interpretation</a:t>
            </a:r>
            <a:endParaRPr lang="en-US" sz="1900" dirty="0"/>
          </a:p>
        </p:txBody>
      </p:sp>
      <p:sp>
        <p:nvSpPr>
          <p:cNvPr id="18" name="Shape 12"/>
          <p:cNvSpPr/>
          <p:nvPr/>
        </p:nvSpPr>
        <p:spPr>
          <a:xfrm>
            <a:off x="685800" y="384048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85800" y="3840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560320" y="3840480"/>
            <a:ext cx="1453896" cy="438912"/>
          </a:xfrm>
          <a:prstGeom prst="roundRect">
            <a:avLst>
              <a:gd name="adj" fmla="val 20833"/>
            </a:avLst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2560320" y="3840480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197096" y="384048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1A8FA8"/>
          </a:solidFill>
          <a:ln w="12700">
            <a:solidFill>
              <a:srgbClr val="1A8FA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197096" y="3840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4572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“What is it?” to “What does it mean?”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presentation — not a standalone diagnostic 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Definition: two thinking skills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distinction makes the rest of the topic easier to understand.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423160"/>
            <a:ext cx="868680" cy="86868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640330"/>
            <a:ext cx="434340" cy="4343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11680" y="2633472"/>
            <a:ext cx="2089404" cy="384048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11680" y="26334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THINKING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20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specific facts to general meaning, relationships, categories, and principles.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14400" y="46634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“What is the deeper meaning?”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91072" y="210312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56832" y="2423160"/>
            <a:ext cx="868680" cy="8686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02" y="2640330"/>
            <a:ext cx="434340" cy="4343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754112" y="2633472"/>
            <a:ext cx="3241548" cy="384048"/>
          </a:xfrm>
          <a:prstGeom prst="roundRect">
            <a:avLst>
              <a:gd name="adj" fmla="val 19048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54112" y="2633472"/>
            <a:ext cx="3241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/ DIVERGENT THINKING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656832" y="3520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multiple possible ideas, uses, explanations, or solutions — then exploring or improving them.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656832" y="46634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9712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“What else could be possible?”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22960" y="5623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2103120" y="56235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thinking finds the pattern. Creative thinking expands the possibilities.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I improve abstract thinking?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yourself to move from the concrete example to the underlying idea.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2239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85416"/>
            <a:ext cx="640080" cy="64008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34543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Proverbs &amp; metaphors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51460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deeper meaning, then make your own example.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2011680"/>
            <a:ext cx="542239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185416"/>
            <a:ext cx="640080" cy="64008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345436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0" y="2148840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similarities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251460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unrelated things and identify the higher-level link.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3200400"/>
            <a:ext cx="542239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374136"/>
            <a:ext cx="640080" cy="64008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53415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45920" y="3337560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370332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same items at different levels of abstraction.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17920" y="3200400"/>
            <a:ext cx="542239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3374136"/>
            <a:ext cx="640080" cy="640080"/>
          </a:xfrm>
          <a:prstGeom prst="ellipse">
            <a:avLst/>
          </a:prstGeom>
          <a:solidFill>
            <a:srgbClr val="1A8FA8"/>
          </a:solidFill>
          <a:ln w="12700">
            <a:solidFill>
              <a:srgbClr val="1A8FA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353415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15200" y="3337560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/ What if?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0" y="370332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a pattern occurs and what changes if one part is altered.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4389120"/>
            <a:ext cx="542239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77240" y="4562856"/>
            <a:ext cx="640080" cy="640080"/>
          </a:xfrm>
          <a:prstGeom prst="ellipse">
            <a:avLst/>
          </a:prstGeom>
          <a:solidFill>
            <a:srgbClr val="1A8FA8"/>
          </a:solidFill>
          <a:ln w="12700">
            <a:solidFill>
              <a:srgbClr val="1A8FA8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722876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645920" y="4526280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without the word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1645920" y="489204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concept without naming it.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217920" y="4389120"/>
            <a:ext cx="542239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446520" y="4562856"/>
            <a:ext cx="640080" cy="640080"/>
          </a:xfrm>
          <a:prstGeom prst="ellipse">
            <a:avLst/>
          </a:prstGeom>
          <a:solidFill>
            <a:srgbClr val="1A8FA8"/>
          </a:solidFill>
          <a:ln w="12700">
            <a:solidFill>
              <a:srgbClr val="1A8FA8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4722876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315200" y="4526280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</a:t>
            </a:r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summarize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7315200" y="489204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paragraph to one sentence: the main idea.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548640" y="5596128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" y="5737860"/>
            <a:ext cx="283464" cy="283464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1280160" y="566928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1280160" y="566928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TARGET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3063240" y="566928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minutes: one concept, one deeper meaning, one new connection.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EXERCISE FOR PSYCHIATRY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one clinical concept every day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ladder keeps the practice clinically relevant.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41173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395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035808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30068" y="201168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58668" y="2240280"/>
            <a:ext cx="685800" cy="685800"/>
          </a:xfrm>
          <a:prstGeom prst="ellipse">
            <a:avLst/>
          </a:prstGeom>
          <a:solidFill>
            <a:srgbClr val="2270A8"/>
          </a:solidFill>
          <a:ln w="12700">
            <a:solidFill>
              <a:srgbClr val="2270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118" y="24117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27348" y="2395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3058668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3058668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happen?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6" y="3035808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111496" y="201168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340096" y="2240280"/>
            <a:ext cx="685800" cy="685800"/>
          </a:xfrm>
          <a:prstGeom prst="ellipse">
            <a:avLst/>
          </a:prstGeom>
          <a:solidFill>
            <a:srgbClr val="1A8FA8"/>
          </a:solidFill>
          <a:ln w="12700">
            <a:solidFill>
              <a:srgbClr val="1A8FA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546" y="2411730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208776" y="2395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5340096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meaning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340096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clinically?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3035808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392924" y="201168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621524" y="2240280"/>
            <a:ext cx="685800" cy="6858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2974" y="2411730"/>
            <a:ext cx="342900" cy="3429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90204" y="2395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23"/>
          <p:cNvSpPr txBox="1"/>
          <p:nvPr/>
        </p:nvSpPr>
        <p:spPr>
          <a:xfrm>
            <a:off x="7621524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7621524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show it in a case?</a:t>
            </a:r>
            <a:endParaRPr lang="en-US" sz="14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2892" y="3035808"/>
            <a:ext cx="182880" cy="18288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9674352" y="201168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9902952" y="2240280"/>
            <a:ext cx="685800" cy="685800"/>
          </a:xfrm>
          <a:prstGeom prst="ellipse">
            <a:avLst/>
          </a:prstGeom>
          <a:solidFill>
            <a:srgbClr val="E08A45"/>
          </a:solidFill>
          <a:ln w="12700">
            <a:solidFill>
              <a:srgbClr val="E08A45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4402" y="2411730"/>
            <a:ext cx="342900" cy="3429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71632" y="2395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28"/>
          <p:cNvSpPr txBox="1"/>
          <p:nvPr/>
        </p:nvSpPr>
        <p:spPr>
          <a:xfrm>
            <a:off x="9902952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</a:t>
            </a:r>
            <a:endParaRPr lang="en-US" sz="1800" dirty="0"/>
          </a:p>
        </p:txBody>
      </p:sp>
      <p:sp>
        <p:nvSpPr>
          <p:cNvPr id="40" name="Text 29"/>
          <p:cNvSpPr txBox="1"/>
          <p:nvPr/>
        </p:nvSpPr>
        <p:spPr>
          <a:xfrm>
            <a:off x="9902952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concept does it link to?</a:t>
            </a:r>
            <a:endParaRPr lang="en-US" sz="1400" dirty="0"/>
          </a:p>
        </p:txBody>
      </p:sp>
      <p:sp>
        <p:nvSpPr>
          <p:cNvPr id="41" name="Shape 30"/>
          <p:cNvSpPr/>
          <p:nvPr/>
        </p:nvSpPr>
        <p:spPr>
          <a:xfrm>
            <a:off x="548640" y="45720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822960" y="45720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2057400" y="4572000"/>
            <a:ext cx="9372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“Depression” → define it → ask why symptoms occur → interpret function and impact → give a case → connect to sleep, cognition, and risk.</a:t>
            </a:r>
            <a:endParaRPr lang="en-US" sz="1600" dirty="0"/>
          </a:p>
        </p:txBody>
      </p:sp>
      <p:sp>
        <p:nvSpPr>
          <p:cNvPr id="44" name="Text 33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A8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the reasoning, not the wording.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I improve creative thinking?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habit is to produce more than one possible idea before judging them.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6751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1284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61488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848356"/>
            <a:ext cx="173736" cy="1737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27614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uses:</a:t>
            </a:r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 10 uses for one ordinary object.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3218688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3305556"/>
            <a:ext cx="173736" cy="1737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25880" y="32186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if?:</a:t>
            </a:r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explore unusual consequences and possibilities.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2960" y="3675888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762756"/>
            <a:ext cx="173736" cy="1737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6758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3 ways:</a:t>
            </a:r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yourself to find three solutions.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22960" y="4133088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219956"/>
            <a:ext cx="173736" cy="1737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1330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unrelated things:</a:t>
            </a:r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merge functions from two objects.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22960" y="4590288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677156"/>
            <a:ext cx="173736" cy="17373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25880" y="45902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endings:</a:t>
            </a:r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 the outcome of the same scenario.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" y="5047488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5134356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25880" y="50474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brainstorm:</a:t>
            </a:r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quantity first, judgment later.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498080" y="2011680"/>
            <a:ext cx="4142232" cy="3520440"/>
          </a:xfrm>
          <a:prstGeom prst="roundRect">
            <a:avLst>
              <a:gd name="adj" fmla="val 3117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818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RULE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818120" y="269748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850" y="2823210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50392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400" dirty="0"/>
          </a:p>
        </p:txBody>
      </p:sp>
      <p:sp>
        <p:nvSpPr>
          <p:cNvPr id="33" name="Shape 24"/>
          <p:cNvSpPr/>
          <p:nvPr/>
        </p:nvSpPr>
        <p:spPr>
          <a:xfrm>
            <a:off x="7818120" y="3383280"/>
            <a:ext cx="502920" cy="502920"/>
          </a:xfrm>
          <a:prstGeom prst="ellipse">
            <a:avLst/>
          </a:prstGeom>
          <a:solidFill>
            <a:srgbClr val="7CC6D6"/>
          </a:solidFill>
          <a:ln w="12700">
            <a:solidFill>
              <a:srgbClr val="7CC6D6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3850" y="350901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50392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2400" b="1" dirty="0">
                <a:solidFill>
                  <a:srgbClr val="D6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2400" dirty="0"/>
          </a:p>
        </p:txBody>
      </p:sp>
      <p:sp>
        <p:nvSpPr>
          <p:cNvPr id="36" name="Shape 26"/>
          <p:cNvSpPr/>
          <p:nvPr/>
        </p:nvSpPr>
        <p:spPr>
          <a:xfrm>
            <a:off x="7818120" y="4069080"/>
            <a:ext cx="502920" cy="502920"/>
          </a:xfrm>
          <a:prstGeom prst="ellipse">
            <a:avLst/>
          </a:prstGeom>
          <a:solidFill>
            <a:srgbClr val="8CD3C5"/>
          </a:solidFill>
          <a:ln w="12700">
            <a:solidFill>
              <a:srgbClr val="8CD3C5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3850" y="4194810"/>
            <a:ext cx="251460" cy="25146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50392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2400" b="1" dirty="0">
                <a:solidFill>
                  <a:srgbClr val="D6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2400" dirty="0"/>
          </a:p>
        </p:txBody>
      </p:sp>
      <p:sp>
        <p:nvSpPr>
          <p:cNvPr id="39" name="Shape 28"/>
          <p:cNvSpPr/>
          <p:nvPr/>
        </p:nvSpPr>
        <p:spPr>
          <a:xfrm>
            <a:off x="7818120" y="4754880"/>
            <a:ext cx="502920" cy="502920"/>
          </a:xfrm>
          <a:prstGeom prst="ellipse">
            <a:avLst/>
          </a:prstGeom>
          <a:solidFill>
            <a:srgbClr val="B8D8F0"/>
          </a:solidFill>
          <a:ln w="12700">
            <a:solidFill>
              <a:srgbClr val="B8D8F0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3850" y="4880610"/>
            <a:ext cx="251460" cy="25146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503920" y="4754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2400" b="1" dirty="0">
                <a:solidFill>
                  <a:srgbClr val="D6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2400" dirty="0"/>
          </a:p>
        </p:txBody>
      </p:sp>
      <p:sp>
        <p:nvSpPr>
          <p:cNvPr id="42" name="Shape 30"/>
          <p:cNvSpPr/>
          <p:nvPr/>
        </p:nvSpPr>
        <p:spPr>
          <a:xfrm>
            <a:off x="548640" y="566928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" y="5795010"/>
            <a:ext cx="251460" cy="25146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234440" y="5669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live demo: </a:t>
            </a:r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class a paper clip and ask for as many uses as possible in 60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doctor, how can I test these skills?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Mental Status Examination, abstract thinking can be assessed clinically; creative thinking is better explored as flexibility and idea generation.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8F1FA"/>
          </a:solidFill>
          <a:ln w="12700">
            <a:solidFill>
              <a:srgbClr val="9DBF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17420"/>
            <a:ext cx="502920" cy="50292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34315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1031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prompts that test generalization, similarity, and multiple ideas — not a single “right” answer.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4518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THINKING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3538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Proverb meaning + similarity question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291072" y="306324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65392" y="32918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34518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34072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/ DIVERGENT THINKING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434072" y="3538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Alternative-use task + follow-up prompt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548640" y="438912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229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 context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education, culture, language, attention, mood, and the rest of the MSE before drawing conclusions.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22960" y="544068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54126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98448" y="5440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2606040" y="544068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55412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081528" y="5440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389120" y="544068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55412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864608" y="5440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172200" y="544068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5541264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647688" y="5440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7955280" y="544068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5541264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430768" y="5440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9738360" y="544068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20" y="5541264"/>
            <a:ext cx="256032" cy="25603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213848" y="5440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MSE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CONVERSATION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abstract thinking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natural questions can reveal whether the patient moves beyond literal or concrete responses.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70866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12848"/>
            <a:ext cx="411480" cy="41148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315718"/>
            <a:ext cx="205740" cy="2057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25880" y="2240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258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– PATIENT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2898648"/>
            <a:ext cx="457200" cy="45720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012948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417320" y="278892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600200" y="2843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" y="304495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‘Don’t judge a book by its cover’ mean?”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46520" y="372160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3835908"/>
            <a:ext cx="22860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2960" y="361188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05840" y="3666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005840" y="38679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should not judge a person only by their appearance.”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4544568"/>
            <a:ext cx="457200" cy="45720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658868"/>
            <a:ext cx="228600" cy="228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417320" y="443484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600200" y="4489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600200" y="46908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a dog and a cat alike?”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446520" y="536752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5481828"/>
            <a:ext cx="228600" cy="2286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22960" y="525780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005840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1005840" y="551383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“Both are animals and can be kept as pets.”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7909560" y="2011680"/>
            <a:ext cx="3730752" cy="4160520"/>
          </a:xfrm>
          <a:prstGeom prst="roundRect">
            <a:avLst>
              <a:gd name="adj" fmla="val 2941"/>
            </a:avLst>
          </a:prstGeom>
          <a:solidFill>
            <a:srgbClr val="E6F4F1"/>
          </a:solidFill>
          <a:ln w="12700">
            <a:solidFill>
              <a:srgbClr val="A8DCD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29600" y="22860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2446020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068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8229600" y="3108960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Preserved / intact abstract thinking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8229600" y="411480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229600" y="4480560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identifies a general meaning and a higher-level similarity rather than staying only with concrete details.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CONVERSATION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creative / divergent thinking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variety, flexibility, and the ability to generate alternatives.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70866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1284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315718"/>
            <a:ext cx="205740" cy="2057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25880" y="2240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258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– PATIENT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2898648"/>
            <a:ext cx="457200" cy="45720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012948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417320" y="278892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600200" y="2843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" y="304495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“Imagine I give you a paper clip. Tell me as many uses as you can.”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46520" y="372160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3835908"/>
            <a:ext cx="22860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2960" y="361188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05840" y="3666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005840" y="38679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hold papers, as a bookmark, to organize wires, or for a small craft.”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4544568"/>
            <a:ext cx="457200" cy="45720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658868"/>
            <a:ext cx="228600" cy="228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417320" y="443484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600200" y="4489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600200" y="46908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think of another unusual use?”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446520" y="536752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5481828"/>
            <a:ext cx="228600" cy="2286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22960" y="525780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005840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1005840" y="551383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could use it as a temporary zipper pull.”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7909560" y="2011680"/>
            <a:ext cx="3730752" cy="4160520"/>
          </a:xfrm>
          <a:prstGeom prst="roundRect">
            <a:avLst>
              <a:gd name="adj" fmla="val 2941"/>
            </a:avLst>
          </a:prstGeom>
          <a:solidFill>
            <a:srgbClr val="FFF1E4"/>
          </a:solidFill>
          <a:ln w="12700">
            <a:solidFill>
              <a:srgbClr val="F6C99E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3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29600" y="2286000"/>
            <a:ext cx="640080" cy="640080"/>
          </a:xfrm>
          <a:prstGeom prst="ellipse">
            <a:avLst/>
          </a:prstGeom>
          <a:solidFill>
            <a:srgbClr val="D97B2E"/>
          </a:solidFill>
          <a:ln w="12700">
            <a:solidFill>
              <a:srgbClr val="D97B2E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2446020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068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8229600" y="3108960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Flexible, varied idea generation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8229600" y="411480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500" dirty="0"/>
          </a:p>
        </p:txBody>
      </p:sp>
      <p:sp>
        <p:nvSpPr>
          <p:cNvPr id="38" name="Shape 30"/>
          <p:cNvSpPr/>
          <p:nvPr/>
        </p:nvSpPr>
        <p:spPr>
          <a:xfrm>
            <a:off x="8229600" y="4636008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50392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possible idea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8229600" y="5111496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8503920" y="5001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shift or add alternatives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8229600" y="5586984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8503920" y="5477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reward “cleverness” alone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skills in a simple cycle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memorable closing framework for study and clinical practice.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1C3A63"/>
          </a:solidFill>
          <a:ln w="19050">
            <a:solidFill>
              <a:srgbClr val="6FA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45745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3317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6FA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93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concrete fact?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99008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92424" y="201168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1C3A63"/>
          </a:solidFill>
          <a:ln w="19050">
            <a:solidFill>
              <a:srgbClr val="4FB3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66744" y="2286000"/>
            <a:ext cx="685800" cy="685800"/>
          </a:xfrm>
          <a:prstGeom prst="ellipse">
            <a:avLst/>
          </a:prstGeom>
          <a:solidFill>
            <a:srgbClr val="4FB3C8"/>
          </a:solidFill>
          <a:ln w="12700">
            <a:solidFill>
              <a:srgbClr val="4FB3C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194" y="24574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7550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4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3666744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666744" y="3493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mean?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990088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36208" y="201168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1C3A63"/>
          </a:solidFill>
          <a:ln w="19050">
            <a:solidFill>
              <a:srgbClr val="5CC2A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10528" y="2286000"/>
            <a:ext cx="685800" cy="685800"/>
          </a:xfrm>
          <a:prstGeom prst="ellipse">
            <a:avLst/>
          </a:prstGeom>
          <a:solidFill>
            <a:srgbClr val="5CC2A8"/>
          </a:solidFill>
          <a:ln w="12700">
            <a:solidFill>
              <a:srgbClr val="5CC2A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978" y="2457450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1928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5C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18"/>
          <p:cNvSpPr txBox="1"/>
          <p:nvPr/>
        </p:nvSpPr>
        <p:spPr>
          <a:xfrm>
            <a:off x="6510528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510528" y="3493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could be possible?</a:t>
            </a:r>
            <a:endParaRPr lang="en-US" sz="15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816" y="2990088"/>
            <a:ext cx="201168" cy="20116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79992" y="201168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1C3A63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354312" y="22860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762" y="2457450"/>
            <a:ext cx="342900" cy="3429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86307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23"/>
          <p:cNvSpPr txBox="1"/>
          <p:nvPr/>
        </p:nvSpPr>
        <p:spPr>
          <a:xfrm>
            <a:off x="9354312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2000" dirty="0"/>
          </a:p>
        </p:txBody>
      </p:sp>
      <p:sp>
        <p:nvSpPr>
          <p:cNvPr id="33" name="Text 24"/>
          <p:cNvSpPr txBox="1"/>
          <p:nvPr/>
        </p:nvSpPr>
        <p:spPr>
          <a:xfrm>
            <a:off x="9354312" y="3493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 it in a case?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548640" y="44348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800600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50876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reminder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1508760" y="480060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response is not a diagnosis. Interpret thinking style with education, culture, language, attention, mood, and the rest of the Mental Status Examination.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shift from facts → meaning → possibilities → clinical application.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417320"/>
            <a:ext cx="3200400" cy="3200400"/>
          </a:xfrm>
          <a:prstGeom prst="ellipse">
            <a:avLst/>
          </a:prstGeom>
          <a:solidFill>
            <a:srgbClr val="2A6FB0"/>
          </a:solidFill>
          <a:ln w="19050">
            <a:solidFill>
              <a:srgbClr val="6FB3D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006840" y="2011680"/>
            <a:ext cx="2011680" cy="201168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251460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927080" y="118872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0" y="1405890"/>
            <a:ext cx="434340" cy="4343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3840480"/>
            <a:ext cx="868680" cy="868680"/>
          </a:xfrm>
          <a:prstGeom prst="ellipse">
            <a:avLst/>
          </a:prstGeom>
          <a:solidFill>
            <a:srgbClr val="7CC6D6"/>
          </a:solidFill>
          <a:ln w="12700">
            <a:solidFill>
              <a:srgbClr val="7CC6D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610" y="4057650"/>
            <a:ext cx="434340" cy="4343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881360" y="4069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4251960"/>
            <a:ext cx="36576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229600" y="411480"/>
            <a:ext cx="3657600" cy="3657600"/>
          </a:xfrm>
          <a:prstGeom prst="arc">
            <a:avLst>
              <a:gd name="adj1" fmla="val 18000000"/>
              <a:gd name="adj2" fmla="val 1800000"/>
            </a:avLst>
          </a:prstGeom>
          <a:ln w="38100">
            <a:solidFill>
              <a:srgbClr val="F4A261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8183880" y="2194560"/>
            <a:ext cx="3657600" cy="3657600"/>
          </a:xfrm>
          <a:prstGeom prst="arc">
            <a:avLst>
              <a:gd name="adj1" fmla="val 6000000"/>
              <a:gd name="adj2" fmla="val 10800000"/>
            </a:avLst>
          </a:prstGeom>
          <a:ln w="38100">
            <a:solidFill>
              <a:srgbClr val="7CC6D6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858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PSYCHIATRY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85800" y="1828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6" name="Text 10"/>
          <p:cNvSpPr txBox="1"/>
          <p:nvPr/>
        </p:nvSpPr>
        <p:spPr>
          <a:xfrm>
            <a:off x="685800" y="3154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2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" y="4114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</a:t>
            </a:r>
            <a:pPr indent="0" marL="0">
              <a:buNone/>
            </a:pPr>
            <a:r>
              <a:rPr lang="en-US" sz="1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800" i="1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Meaning </a:t>
            </a:r>
            <a:pPr indent="0" marL="0">
              <a:buNone/>
            </a:pPr>
            <a:r>
              <a:rPr lang="en-US" sz="1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800" i="1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Possibilities </a:t>
            </a:r>
            <a:pPr indent="0" marL="0">
              <a:buNone/>
            </a:pPr>
            <a:r>
              <a:rPr lang="en-US" sz="1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800" i="1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Clinical application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Creative Thinking  |  Psychiatry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&amp; Creative Thinking | Psychiatry</dc:title>
  <dc:subject>PptxGenJS Presentation</dc:subject>
  <dc:creator>PptxGenJS</dc:creator>
  <cp:lastModifiedBy>PptxGenJS</cp:lastModifiedBy>
  <cp:revision>1</cp:revision>
  <dcterms:created xsi:type="dcterms:W3CDTF">2026-09-24T18:34:44Z</dcterms:created>
  <dcterms:modified xsi:type="dcterms:W3CDTF">2026-09-24T18:34:44Z</dcterms:modified>
</cp:coreProperties>
</file>